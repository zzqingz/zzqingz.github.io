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305" r:id="rId11"/>
    <p:sldId id="267" r:id="rId12"/>
    <p:sldId id="268" r:id="rId13"/>
    <p:sldId id="275" r:id="rId14"/>
    <p:sldId id="276" r:id="rId15"/>
    <p:sldId id="277" r:id="rId16"/>
    <p:sldId id="278" r:id="rId17"/>
    <p:sldId id="280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9" r:id="rId31"/>
    <p:sldId id="292" r:id="rId32"/>
    <p:sldId id="293" r:id="rId33"/>
    <p:sldId id="301" r:id="rId34"/>
    <p:sldId id="294" r:id="rId35"/>
    <p:sldId id="303" r:id="rId36"/>
    <p:sldId id="295" r:id="rId37"/>
    <p:sldId id="304" r:id="rId38"/>
    <p:sldId id="296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D78"/>
    <a:srgbClr val="EBEEF2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0" autoAdjust="0"/>
    <p:restoredTop sz="94700"/>
  </p:normalViewPr>
  <p:slideViewPr>
    <p:cSldViewPr snapToGrid="0" showGuides="1">
      <p:cViewPr varScale="1">
        <p:scale>
          <a:sx n="83" d="100"/>
          <a:sy n="83" d="100"/>
        </p:scale>
        <p:origin x="42" y="54"/>
      </p:cViewPr>
      <p:guideLst>
        <p:guide orient="horz" pos="2103"/>
        <p:guide pos="39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65CC-65DF-40F1-923E-D68714C22941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C76D7-DCD5-489B-8DB7-9DFBE0C580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270" y="3809365"/>
            <a:ext cx="11936095" cy="3936365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2548890"/>
            <a:ext cx="12192000" cy="136144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1" y="2377590"/>
            <a:ext cx="12191999" cy="927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五边形 14"/>
          <p:cNvSpPr/>
          <p:nvPr userDrawn="1"/>
        </p:nvSpPr>
        <p:spPr>
          <a:xfrm rot="5400000">
            <a:off x="5038090" y="68580"/>
            <a:ext cx="2115820" cy="1978660"/>
          </a:xfrm>
          <a:prstGeom prst="homePlate">
            <a:avLst>
              <a:gd name="adj" fmla="val 34883"/>
            </a:avLst>
          </a:prstGeom>
          <a:solidFill>
            <a:schemeClr val="accent3"/>
          </a:solidFill>
        </p:spPr>
        <p:txBody>
          <a:bodyPr wrap="none" anchor="ctr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1" y="3993030"/>
            <a:ext cx="12191999" cy="927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0" name="上海交通大学官方校徽" descr="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182880"/>
            <a:ext cx="1472184" cy="1472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4"/>
          <p:cNvSpPr/>
          <p:nvPr userDrawn="1"/>
        </p:nvSpPr>
        <p:spPr>
          <a:xfrm rot="5400000">
            <a:off x="843469" y="6472093"/>
            <a:ext cx="249299" cy="522514"/>
          </a:xfrm>
          <a:prstGeom prst="rect">
            <a:avLst/>
          </a:prstGeom>
          <a:solidFill>
            <a:srgbClr val="1F4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1260" y="4445"/>
            <a:ext cx="2110740" cy="21107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huiyuan.sjtu.edu.cn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zzqingz.github.io/" TargetMode="External"/><Relationship Id="rId2" Type="http://schemas.openxmlformats.org/officeDocument/2006/relationships/hyperlink" Target="mailto:zhangziqing@sjtu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606040"/>
            <a:ext cx="1109167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学习能力提升营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1091672" cy="6400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00" b="1" dirty="0">
                <a:solidFill>
                  <a:srgbClr val="FFFFFF"/>
                </a:solidFill>
                <a:latin typeface="微软雅黑"/>
                <a:ea typeface="微软雅黑"/>
              </a:rPr>
              <a:t>如何适应大学生活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09160"/>
            <a:ext cx="8531352" cy="42976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1F4D78"/>
                </a:solidFill>
                <a:latin typeface="微软雅黑"/>
                <a:ea typeface="微软雅黑"/>
              </a:rPr>
              <a:t>主讲人：张梓晴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31352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上海交通大学计算机学院2023级本科生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870448"/>
            <a:ext cx="6702552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2026年9月29日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大家关心什么？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8" y="1298448"/>
            <a:ext cx="10616184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3816" y="1463039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27048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课程学习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1348739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“目前上课听得懂，但是自己做题做不出来”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1623060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“面对有很多的新概念的课（如高数，C➕➕等课）需要学多深”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1897379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“怎么样在课下进行知识复习”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2276856"/>
            <a:ext cx="10616184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" y="2441448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505456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科研竞赛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327148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“如何找到实习，科研，项目的机会”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601468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“科研发表论文及写作技巧”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875788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“如何在大一平衡竞赛与绩点”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255264"/>
            <a:ext cx="10616184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" y="3419856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483864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资源信息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305556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“感觉自己信息渠道单一获得信息有限”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3579876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“如何获取信息（如项目、竞赛、实习相关的）”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854196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“如何拓展信息搜索渠道，提升信息检索能力。”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" y="4233672"/>
            <a:ext cx="10616184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" y="4398264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462272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未来选择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4283964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“关于转专业的相关讲解”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558283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“关于保研的规划”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4832603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“计算机以后该学什么，读研还是读博”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5212080"/>
            <a:ext cx="10616184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816" y="5376672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5440680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心态成长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3472" y="5262372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“内卷环境下，怎么稳住心态，回归自我”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5536692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“如何构建自我的评价体系，不受他人干扰”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3472" y="5811012"/>
            <a:ext cx="850392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“如何找到自己的学习节奏和目标”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3920" y="6281928"/>
            <a:ext cx="5370058" cy="2834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1F4D78"/>
                </a:solidFill>
                <a:latin typeface="微软雅黑"/>
                <a:ea typeface="微软雅黑"/>
              </a:rPr>
              <a:t>——</a:t>
            </a:r>
            <a:r>
              <a:rPr lang="zh-CN" sz="1600" b="1" dirty="0">
                <a:solidFill>
                  <a:srgbClr val="1F4D78"/>
                </a:solidFill>
                <a:latin typeface="微软雅黑"/>
                <a:ea typeface="微软雅黑"/>
              </a:rPr>
              <a:t>来自报名问卷的</a:t>
            </a:r>
            <a:r>
              <a:rPr lang="zh-CN" altLang="en-US" sz="1600" b="1" dirty="0">
                <a:solidFill>
                  <a:srgbClr val="1F4D78"/>
                </a:solidFill>
                <a:latin typeface="微软雅黑"/>
                <a:ea typeface="微软雅黑"/>
              </a:rPr>
              <a:t>问题，</a:t>
            </a:r>
            <a:r>
              <a:rPr lang="zh-CN" sz="1600" b="1" dirty="0">
                <a:solidFill>
                  <a:srgbClr val="1F4D78"/>
                </a:solidFill>
                <a:latin typeface="微软雅黑"/>
                <a:ea typeface="微软雅黑"/>
              </a:rPr>
              <a:t>也是今天分享的起点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36776"/>
            <a:ext cx="3337560" cy="428853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4088" y="1527048"/>
            <a:ext cx="19532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540763"/>
            <a:ext cx="17795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FFFFFF"/>
                </a:solidFill>
                <a:latin typeface="微软雅黑"/>
                <a:ea typeface="微软雅黑"/>
              </a:rPr>
              <a:t>学业与选择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221992"/>
            <a:ext cx="2889504" cy="74980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400" b="1">
                <a:solidFill>
                  <a:srgbClr val="1F4D7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" y="3383279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3282696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 dirty="0">
                <a:solidFill>
                  <a:srgbClr val="000000"/>
                </a:solidFill>
                <a:latin typeface="微软雅黑"/>
                <a:ea typeface="微软雅黑"/>
              </a:rPr>
              <a:t>大学时间</a:t>
            </a:r>
            <a:r>
              <a:rPr lang="zh-CN" altLang="en-US" sz="1750" b="0" dirty="0">
                <a:solidFill>
                  <a:srgbClr val="000000"/>
                </a:solidFill>
                <a:latin typeface="微软雅黑"/>
                <a:ea typeface="微软雅黑"/>
              </a:rPr>
              <a:t>线梳理</a:t>
            </a:r>
            <a:endParaRPr lang="zh-CN" sz="175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8408" y="392277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3822191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000000"/>
                </a:solidFill>
                <a:latin typeface="微软雅黑"/>
                <a:ea typeface="微软雅黑"/>
              </a:rPr>
              <a:t>课内成绩与奖学金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4462272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4361688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000000"/>
                </a:solidFill>
                <a:latin typeface="微软雅黑"/>
                <a:ea typeface="微软雅黑"/>
              </a:rPr>
              <a:t>科研探索与竞赛实践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" y="5001768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4901183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000000"/>
                </a:solidFill>
                <a:latin typeface="微软雅黑"/>
                <a:ea typeface="微软雅黑"/>
              </a:rPr>
              <a:t>升学路径与方向选择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636776"/>
            <a:ext cx="3337560" cy="428853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61688" y="1527048"/>
            <a:ext cx="19532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7" y="1540763"/>
            <a:ext cx="17795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FFFFFF"/>
                </a:solidFill>
                <a:latin typeface="微软雅黑"/>
                <a:ea typeface="微软雅黑"/>
              </a:rPr>
              <a:t>信息与工具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221992"/>
            <a:ext cx="2889504" cy="74980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400" b="1">
                <a:solidFill>
                  <a:srgbClr val="1F4D7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7" y="3383279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3282696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000000"/>
                </a:solidFill>
                <a:latin typeface="微软雅黑"/>
                <a:ea typeface="微软雅黑"/>
              </a:rPr>
              <a:t>水源社区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392277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7" y="3822191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rgbClr val="000000"/>
                </a:solidFill>
                <a:latin typeface="微软雅黑"/>
                <a:ea typeface="微软雅黑"/>
              </a:rPr>
              <a:t>校内常用资源</a:t>
            </a:r>
            <a:r>
              <a:rPr lang="en-US" altLang="zh-CN" b="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b="0" dirty="0">
                <a:solidFill>
                  <a:srgbClr val="000000"/>
                </a:solidFill>
                <a:latin typeface="微软雅黑"/>
                <a:ea typeface="微软雅黑"/>
              </a:rPr>
              <a:t>服务</a:t>
            </a:r>
            <a:r>
              <a:rPr lang="zh-CN" b="0" dirty="0">
                <a:solidFill>
                  <a:srgbClr val="000000"/>
                </a:solidFill>
                <a:latin typeface="微软雅黑"/>
                <a:ea typeface="微软雅黑"/>
              </a:rPr>
              <a:t>网站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7" y="4462272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7" y="4361688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0" dirty="0">
                <a:solidFill>
                  <a:srgbClr val="000000"/>
                </a:solidFill>
                <a:latin typeface="微软雅黑"/>
                <a:ea typeface="微软雅黑"/>
              </a:rPr>
              <a:t>AI工具</a:t>
            </a:r>
            <a:r>
              <a:rPr lang="zh-CN" altLang="en-US" b="0" dirty="0">
                <a:solidFill>
                  <a:srgbClr val="000000"/>
                </a:solidFill>
                <a:latin typeface="微软雅黑"/>
                <a:ea typeface="微软雅黑"/>
              </a:rPr>
              <a:t>使用入门</a:t>
            </a:r>
            <a:endParaRPr lang="zh-CN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92440" y="1636776"/>
            <a:ext cx="3337560" cy="428853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19288" y="1527048"/>
            <a:ext cx="19532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7" y="1540763"/>
            <a:ext cx="17795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FFFFFF"/>
                </a:solidFill>
                <a:latin typeface="微软雅黑"/>
                <a:ea typeface="微软雅黑"/>
              </a:rPr>
              <a:t>心态与成长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221992"/>
            <a:ext cx="2889504" cy="74980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400" b="1">
                <a:solidFill>
                  <a:srgbClr val="1F4D7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8" y="3383279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22208" y="3282696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 dirty="0">
                <a:solidFill>
                  <a:srgbClr val="000000"/>
                </a:solidFill>
                <a:latin typeface="微软雅黑"/>
                <a:ea typeface="微软雅黑"/>
              </a:rPr>
              <a:t>面对比较，建立自我评价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392277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3822191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000000"/>
                </a:solidFill>
                <a:latin typeface="微软雅黑"/>
                <a:ea typeface="微软雅黑"/>
              </a:rPr>
              <a:t>面对未知，理解得失变化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4462272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4361688"/>
            <a:ext cx="2724912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000000"/>
                </a:solidFill>
                <a:latin typeface="微软雅黑"/>
                <a:ea typeface="微软雅黑"/>
              </a:rPr>
              <a:t>接纳当下，保持持续成长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79776"/>
            <a:ext cx="12192000" cy="73152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53512"/>
            <a:ext cx="12192000" cy="109728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17904"/>
            <a:ext cx="1828800" cy="10241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600" b="1">
                <a:solidFill>
                  <a:srgbClr val="1F4D7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044952"/>
            <a:ext cx="10332720" cy="81381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00" b="1">
                <a:solidFill>
                  <a:srgbClr val="FFFFFF"/>
                </a:solidFill>
                <a:latin typeface="微软雅黑"/>
                <a:ea typeface="微软雅黑"/>
              </a:rPr>
              <a:t>学业与选择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526280"/>
            <a:ext cx="1024128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3F3F3F"/>
                </a:solidFill>
                <a:latin typeface="微软雅黑"/>
                <a:ea typeface="微软雅黑"/>
              </a:rPr>
              <a:t>大学规划　·　课内成绩　·　奖学金　·　科研竞赛　·　升学选择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 大学四年时间线：按月份看关键节点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10607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四年通用节奏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1764792"/>
            <a:ext cx="612648" cy="85953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56816"/>
            <a:ext cx="530352" cy="4663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FFFF"/>
                </a:solidFill>
                <a:latin typeface="微软雅黑"/>
                <a:ea typeface="微软雅黑"/>
              </a:rPr>
              <a:t>大一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7904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17904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9月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7904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18918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8918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8918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19932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9932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9932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20947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20947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12月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20947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21961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1961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1961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22976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22976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2月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2976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3990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3990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3月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3990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25004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5004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4月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25004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26019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26019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5月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6019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727033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7033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6月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27033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28048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28048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7月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8048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329062" y="1764792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29062" y="1773936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8月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29062" y="2039112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540763" y="2084831"/>
            <a:ext cx="2357323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59051" y="2086660"/>
            <a:ext cx="2320747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80" b="1" dirty="0">
                <a:solidFill>
                  <a:srgbClr val="1F4D78"/>
                </a:solidFill>
                <a:latin typeface="微软雅黑"/>
                <a:ea typeface="微软雅黑"/>
              </a:rPr>
              <a:t>熟悉校园 </a:t>
            </a:r>
            <a:r>
              <a:rPr lang="zh-CN" sz="1180" b="1" dirty="0">
                <a:solidFill>
                  <a:srgbClr val="1F4D78"/>
                </a:solidFill>
                <a:latin typeface="微软雅黑"/>
                <a:ea typeface="微软雅黑"/>
              </a:rPr>
              <a:t>/ 适应</a:t>
            </a:r>
            <a:r>
              <a:rPr lang="zh-CN" altLang="en-US" sz="1180" b="1" dirty="0">
                <a:solidFill>
                  <a:srgbClr val="1F4D78"/>
                </a:solidFill>
                <a:latin typeface="微软雅黑"/>
                <a:ea typeface="微软雅黑"/>
              </a:rPr>
              <a:t>大学生活</a:t>
            </a:r>
            <a:endParaRPr lang="zh-CN" sz="118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744821" y="2084831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63109" y="2086660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6850" y="2084831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5138" y="2086660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综测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47864" y="2084831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66152" y="2086660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转专业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49893" y="2084831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68181" y="2086660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0908" y="2084831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69196" y="2086660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暑期探索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68180" y="2350008"/>
            <a:ext cx="2320747" cy="2651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41141" y="2371496"/>
            <a:ext cx="2238642" cy="2436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1F4D78"/>
                </a:solidFill>
                <a:latin typeface="微软雅黑"/>
                <a:ea typeface="微软雅黑"/>
              </a:rPr>
              <a:t>科研 / 竞赛：按基础开始尝试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" y="2788920"/>
            <a:ext cx="612648" cy="85953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2980944"/>
            <a:ext cx="530352" cy="4663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FFFF"/>
                </a:solidFill>
                <a:latin typeface="微软雅黑"/>
                <a:ea typeface="微软雅黑"/>
              </a:rPr>
              <a:t>大二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17904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17904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9月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17904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318918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318918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18918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119932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19932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19932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920947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20947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12月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20947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721961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21961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21961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522976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22976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2月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22976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323990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23990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3月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23990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125004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25004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4月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25004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926019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26019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5月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26019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727033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27033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6月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27033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528048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28048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7月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28048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329062" y="2788920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29062" y="2798063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8月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29062" y="3063239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540763" y="3108960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559051" y="3110788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综测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40763" y="3374136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559051" y="3375964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奖学金申报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44821" y="3108960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763109" y="3110788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46850" y="3108960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5138" y="3110788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综测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47864" y="3108960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166152" y="3110788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转专业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749893" y="3108960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768181" y="3110788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42791" y="3374136"/>
            <a:ext cx="6344107" cy="237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550908" y="3108960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569196" y="3110788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暑研 / 实践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6384" y="3813048"/>
            <a:ext cx="612648" cy="85953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2960" y="4005072"/>
            <a:ext cx="530352" cy="4663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FFFF"/>
                </a:solidFill>
                <a:latin typeface="微软雅黑"/>
                <a:ea typeface="微软雅黑"/>
              </a:rPr>
              <a:t>大三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7904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517904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9月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517904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318918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18918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318918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119932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119932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19932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920947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920947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12月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20947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721961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721961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1月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721961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522976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522976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2月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522976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323990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323990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3月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23990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125004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125004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4月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125004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926019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926019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5月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26019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727033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727033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6月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727033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528048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528048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7月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28048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0329062" y="3813048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329062" y="3822191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8月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329062" y="4087368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540763" y="4133087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559051" y="4134916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综测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40763" y="4398264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559051" y="4400092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奖学金申报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744821" y="4133087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763109" y="4134916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46850" y="4133087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365138" y="4134916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综测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147864" y="4133087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166152" y="4134916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转专业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749893" y="4133087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768181" y="4134916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142792" y="4398264"/>
            <a:ext cx="3959352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3161080" y="4400092"/>
            <a:ext cx="3922776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1F4D78"/>
                </a:solidFill>
                <a:latin typeface="微软雅黑"/>
                <a:ea typeface="微软雅黑"/>
              </a:rPr>
              <a:t>境外暑研</a:t>
            </a:r>
            <a:r>
              <a:rPr lang="zh-CN" altLang="en-US" sz="1180" b="1" dirty="0">
                <a:solidFill>
                  <a:srgbClr val="1F4D78"/>
                </a:solidFill>
                <a:latin typeface="微软雅黑"/>
                <a:ea typeface="微软雅黑"/>
              </a:rPr>
              <a:t>申请</a:t>
            </a:r>
            <a:r>
              <a:rPr lang="zh-CN" sz="1180" b="1" dirty="0">
                <a:solidFill>
                  <a:srgbClr val="1F4D78"/>
                </a:solidFill>
                <a:latin typeface="微软雅黑"/>
                <a:ea typeface="微软雅黑"/>
              </a:rPr>
              <a:t> / 语言与材料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749893" y="4415736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768180" y="4405916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C00000"/>
                </a:solidFill>
                <a:latin typeface="微软雅黑"/>
                <a:ea typeface="微软雅黑"/>
              </a:rPr>
              <a:t>夏令营报名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550908" y="4133087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569196" y="4134916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C00000"/>
                </a:solidFill>
                <a:latin typeface="微软雅黑"/>
                <a:ea typeface="微软雅黑"/>
              </a:rPr>
              <a:t>夏令营 / </a:t>
            </a:r>
            <a:r>
              <a:rPr lang="zh-CN" altLang="en-US" sz="1180" b="1" dirty="0">
                <a:solidFill>
                  <a:srgbClr val="C00000"/>
                </a:solidFill>
                <a:latin typeface="微软雅黑"/>
                <a:ea typeface="微软雅黑"/>
              </a:rPr>
              <a:t>海外</a:t>
            </a:r>
            <a:r>
              <a:rPr lang="zh-CN" sz="1180" b="1" dirty="0">
                <a:solidFill>
                  <a:srgbClr val="C00000"/>
                </a:solidFill>
                <a:latin typeface="微软雅黑"/>
                <a:ea typeface="微软雅黑"/>
              </a:rPr>
              <a:t>暑研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351922" y="4398264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370210" y="4400092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C00000"/>
                </a:solidFill>
                <a:latin typeface="微软雅黑"/>
                <a:ea typeface="微软雅黑"/>
              </a:rPr>
              <a:t>预推免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86384" y="4837176"/>
            <a:ext cx="612648" cy="85953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22960" y="5029200"/>
            <a:ext cx="530352" cy="4663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FFFF"/>
                </a:solidFill>
                <a:latin typeface="微软雅黑"/>
                <a:ea typeface="微软雅黑"/>
              </a:rPr>
              <a:t>大四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517904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517904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9月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517904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2318918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318918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18918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3119932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3119932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119932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920947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920947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12月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920947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4721961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721961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1月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721961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5522976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522976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2月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522976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6323990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323990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3月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23990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7125004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125004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4月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125004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7926019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926019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5月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926019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8727033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8727033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6月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727033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9528048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528048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7月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528048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10329062" y="4837176"/>
            <a:ext cx="801014" cy="26517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329062" y="4846320"/>
            <a:ext cx="801014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微软雅黑"/>
                <a:ea typeface="微软雅黑"/>
              </a:rPr>
              <a:t>8月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329062" y="5111496"/>
            <a:ext cx="80101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541579" y="5425129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341778" y="5157216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2360066" y="5159044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奖学金申报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744821" y="5157216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4763109" y="5159044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期末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948879" y="5157216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967167" y="5159044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毕设答辩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550908" y="5157216"/>
            <a:ext cx="1556308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9569196" y="5159044"/>
            <a:ext cx="1519732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1F4D78"/>
                </a:solidFill>
                <a:latin typeface="微软雅黑"/>
                <a:ea typeface="微软雅黑"/>
              </a:rPr>
              <a:t>毕业 / 入学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318918" y="5422392"/>
            <a:ext cx="2380182" cy="237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2679134" y="5424220"/>
            <a:ext cx="2001678" cy="2377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C00000"/>
                </a:solidFill>
                <a:latin typeface="微软雅黑"/>
                <a:ea typeface="微软雅黑"/>
              </a:rPr>
              <a:t>境外申请 / 秋招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3807" y="5157216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3962095" y="5159044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C00000"/>
                </a:solidFill>
                <a:latin typeface="微软雅黑"/>
                <a:ea typeface="微软雅黑"/>
              </a:rPr>
              <a:t>考研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346850" y="5422392"/>
            <a:ext cx="2357323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6365138" y="5424220"/>
            <a:ext cx="2320747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>
                <a:solidFill>
                  <a:srgbClr val="C00000"/>
                </a:solidFill>
                <a:latin typeface="微软雅黑"/>
                <a:ea typeface="微软雅黑"/>
              </a:rPr>
              <a:t>复试 / 春招 / 录取确认</a:t>
            </a:r>
          </a:p>
        </p:txBody>
      </p:sp>
      <p:sp>
        <p:nvSpPr>
          <p:cNvPr id="226" name="Rectangle 53">
            <a:extLst>
              <a:ext uri="{FF2B5EF4-FFF2-40B4-BE49-F238E27FC236}">
                <a16:creationId xmlns:a16="http://schemas.microsoft.com/office/drawing/2014/main" id="{C23D6C75-2756-908E-5E9D-8C58D48CD427}"/>
              </a:ext>
            </a:extLst>
          </p:cNvPr>
          <p:cNvSpPr/>
          <p:nvPr/>
        </p:nvSpPr>
        <p:spPr>
          <a:xfrm>
            <a:off x="1547401" y="2339986"/>
            <a:ext cx="7158839" cy="2843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54">
            <a:extLst>
              <a:ext uri="{FF2B5EF4-FFF2-40B4-BE49-F238E27FC236}">
                <a16:creationId xmlns:a16="http://schemas.microsoft.com/office/drawing/2014/main" id="{214CC09C-397D-AB40-1C08-2B599D4C470C}"/>
              </a:ext>
            </a:extLst>
          </p:cNvPr>
          <p:cNvSpPr txBox="1"/>
          <p:nvPr/>
        </p:nvSpPr>
        <p:spPr>
          <a:xfrm>
            <a:off x="4605288" y="3392423"/>
            <a:ext cx="3042383" cy="2436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1F4D78"/>
                </a:solidFill>
                <a:latin typeface="微软雅黑"/>
                <a:ea typeface="微软雅黑"/>
              </a:rPr>
              <a:t>科研 / 竞赛：按基础开始尝试</a:t>
            </a:r>
          </a:p>
        </p:txBody>
      </p:sp>
      <p:sp>
        <p:nvSpPr>
          <p:cNvPr id="230" name="Rectangle 205">
            <a:extLst>
              <a:ext uri="{FF2B5EF4-FFF2-40B4-BE49-F238E27FC236}">
                <a16:creationId xmlns:a16="http://schemas.microsoft.com/office/drawing/2014/main" id="{46B58B73-AC3A-E645-5827-29483272D9EF}"/>
              </a:ext>
            </a:extLst>
          </p:cNvPr>
          <p:cNvSpPr/>
          <p:nvPr/>
        </p:nvSpPr>
        <p:spPr>
          <a:xfrm>
            <a:off x="1540764" y="5140714"/>
            <a:ext cx="755294" cy="233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1559051" y="5409485"/>
            <a:ext cx="718718" cy="2286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1" dirty="0">
                <a:solidFill>
                  <a:srgbClr val="C00000"/>
                </a:solidFill>
                <a:latin typeface="微软雅黑"/>
                <a:ea typeface="微软雅黑"/>
              </a:rPr>
              <a:t>九推</a:t>
            </a:r>
          </a:p>
        </p:txBody>
      </p:sp>
      <p:sp>
        <p:nvSpPr>
          <p:cNvPr id="232" name="TextBox 206">
            <a:extLst>
              <a:ext uri="{FF2B5EF4-FFF2-40B4-BE49-F238E27FC236}">
                <a16:creationId xmlns:a16="http://schemas.microsoft.com/office/drawing/2014/main" id="{0C95C195-C2A3-FDC8-39CA-D69EDE959657}"/>
              </a:ext>
            </a:extLst>
          </p:cNvPr>
          <p:cNvSpPr txBox="1"/>
          <p:nvPr/>
        </p:nvSpPr>
        <p:spPr>
          <a:xfrm>
            <a:off x="1415930" y="5160014"/>
            <a:ext cx="1004961" cy="198253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80" b="1" dirty="0">
                <a:solidFill>
                  <a:srgbClr val="C00000"/>
                </a:solidFill>
                <a:latin typeface="微软雅黑"/>
                <a:ea typeface="微软雅黑"/>
              </a:rPr>
              <a:t>推免资格</a:t>
            </a:r>
            <a:endParaRPr lang="zh-CN" sz="1180" b="1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234" name="TextBox 54">
            <a:extLst>
              <a:ext uri="{FF2B5EF4-FFF2-40B4-BE49-F238E27FC236}">
                <a16:creationId xmlns:a16="http://schemas.microsoft.com/office/drawing/2014/main" id="{D8351922-44F3-3CAA-3A13-269A3B34C28F}"/>
              </a:ext>
            </a:extLst>
          </p:cNvPr>
          <p:cNvSpPr txBox="1"/>
          <p:nvPr/>
        </p:nvSpPr>
        <p:spPr>
          <a:xfrm>
            <a:off x="3627785" y="2365324"/>
            <a:ext cx="2989365" cy="2436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80" b="1" dirty="0">
                <a:solidFill>
                  <a:srgbClr val="1F4D78"/>
                </a:solidFill>
                <a:latin typeface="微软雅黑"/>
              </a:rPr>
              <a:t>课内学习：适应大学节奏，打牢课程基础</a:t>
            </a:r>
            <a:endParaRPr lang="zh-CN" sz="118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1.1 课内成绩篇：先读懂培养计划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17904"/>
            <a:ext cx="3703320" cy="42793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21945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21892"/>
            <a:ext cx="20208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先核对三件事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2185416"/>
            <a:ext cx="3191256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F4D78"/>
                </a:solidFill>
                <a:latin typeface="微软雅黑"/>
                <a:ea typeface="微软雅黑"/>
              </a:rPr>
              <a:t>毕业要求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606040"/>
            <a:ext cx="3191256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必修、限选、通识等模块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各要修多少学分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300984"/>
            <a:ext cx="3191256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F4D78"/>
                </a:solidFill>
                <a:latin typeface="微软雅黑"/>
                <a:ea typeface="微软雅黑"/>
              </a:rPr>
              <a:t>课程顺序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721608"/>
            <a:ext cx="3191256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先修关系、开课学期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是否影响后续选课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4416552"/>
            <a:ext cx="3191256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F4D78"/>
                </a:solidFill>
                <a:latin typeface="微软雅黑"/>
                <a:ea typeface="微软雅黑"/>
              </a:rPr>
              <a:t>修业进度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4837176"/>
            <a:ext cx="3191256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已修、在修、待修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课程替代与学分归属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6025896"/>
            <a:ext cx="10515600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教学信息服务网</a:t>
            </a:r>
            <a:r>
              <a:rPr lang="en-US" alt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 (i.sjtu.edu.cn)</a:t>
            </a: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 → 信息查询 → 专业培养计划 / 学生修业情况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07601A3-63CE-51F0-0388-51D7640D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331" y="971742"/>
            <a:ext cx="4363002" cy="189695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38CD32-7C42-B7F2-5C9C-68F0DCB2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813" y="2989384"/>
            <a:ext cx="4999587" cy="99991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74B72DE-31DE-5363-9D3B-71129CD84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215" y="4125927"/>
            <a:ext cx="5592165" cy="1558736"/>
          </a:xfrm>
          <a:prstGeom prst="rect">
            <a:avLst/>
          </a:prstGeom>
        </p:spPr>
      </p:pic>
      <p:sp>
        <p:nvSpPr>
          <p:cNvPr id="21" name="TextBox 11">
            <a:extLst>
              <a:ext uri="{FF2B5EF4-FFF2-40B4-BE49-F238E27FC236}">
                <a16:creationId xmlns:a16="http://schemas.microsoft.com/office/drawing/2014/main" id="{18869127-8532-0F5D-5C4E-76D0207EB99F}"/>
              </a:ext>
            </a:extLst>
          </p:cNvPr>
          <p:cNvSpPr txBox="1"/>
          <p:nvPr/>
        </p:nvSpPr>
        <p:spPr>
          <a:xfrm>
            <a:off x="4768866" y="971742"/>
            <a:ext cx="346947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00" b="1" dirty="0">
                <a:solidFill>
                  <a:srgbClr val="1F4D78"/>
                </a:solidFill>
                <a:latin typeface="微软雅黑"/>
                <a:ea typeface="微软雅黑"/>
              </a:rPr>
              <a:t>例：</a:t>
            </a:r>
            <a:endParaRPr lang="zh-CN" sz="190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1.1 课内成绩篇：四个指标，各自用在哪里？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481328"/>
            <a:ext cx="1691640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5256" y="1517904"/>
            <a:ext cx="145389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8024" y="1481328"/>
            <a:ext cx="4480560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6896" y="1517904"/>
            <a:ext cx="4242816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计算范围 / 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8584" y="1481328"/>
            <a:ext cx="445312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77456" y="1517904"/>
            <a:ext cx="421538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主要用途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956816"/>
            <a:ext cx="1691640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011680"/>
            <a:ext cx="145389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核心学积分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1956816"/>
            <a:ext cx="4480560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96896" y="2011680"/>
            <a:ext cx="424281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培养计划内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必修、限选等核心课程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按学分加权的百分制成绩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58584" y="1956816"/>
            <a:ext cx="4453128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77456" y="2011680"/>
            <a:ext cx="4215384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本校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推免</a:t>
            </a:r>
            <a:r>
              <a:rPr lang="zh-CN" altLang="en-US" sz="1800" b="1" dirty="0">
                <a:solidFill>
                  <a:srgbClr val="000000"/>
                </a:solidFill>
                <a:latin typeface="微软雅黑"/>
                <a:ea typeface="微软雅黑"/>
              </a:rPr>
              <a:t>（保研）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资格与推荐排序的依据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还需满足资格条件及本院细则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935224"/>
            <a:ext cx="1691640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2990088"/>
            <a:ext cx="145389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全部学积分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8024" y="2935224"/>
            <a:ext cx="4480560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2990088"/>
            <a:ext cx="424281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按规则纳入的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全部课程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按学分加权的百分制成绩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8584" y="2935224"/>
            <a:ext cx="4453128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7456" y="2990088"/>
            <a:ext cx="4215384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整体课程表现；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大部分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学院将其作为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奖学金综测中的学业成绩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913632"/>
            <a:ext cx="1691640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" y="3968496"/>
            <a:ext cx="145389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GPA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8024" y="3913632"/>
            <a:ext cx="4480560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96896" y="3968496"/>
            <a:ext cx="424281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各门</a:t>
            </a:r>
            <a:r>
              <a:rPr lang="zh-CN" altLang="en-US" sz="1800" b="1" dirty="0">
                <a:solidFill>
                  <a:srgbClr val="000000"/>
                </a:solidFill>
                <a:latin typeface="微软雅黑"/>
                <a:ea typeface="微软雅黑"/>
              </a:rPr>
              <a:t>全部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课程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先换成绩点，再按学分加权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本校常见满绩点为4.3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8584" y="3913632"/>
            <a:ext cx="4453128" cy="97840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77456" y="3968496"/>
            <a:ext cx="4215384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常用于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境外升学申请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按申请院校要求提交成绩与换算说明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4892040"/>
            <a:ext cx="1691640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4946904"/>
            <a:ext cx="145389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综合测评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8024" y="4892040"/>
            <a:ext cx="4480560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96896" y="4946904"/>
            <a:ext cx="4242816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常见：学积分70% + 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素质拓展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30%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课程范围、权重和加分上限看本院细则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8584" y="4892040"/>
            <a:ext cx="4453128" cy="978408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77456" y="4946904"/>
            <a:ext cx="4215384" cy="8686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奖学金评定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的依据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部分奖项另有成绩门槛、答辩等要求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06AC0010-8F08-DAF0-1320-90FFEB9DCCCA}"/>
              </a:ext>
            </a:extLst>
          </p:cNvPr>
          <p:cNvSpPr txBox="1"/>
          <p:nvPr/>
        </p:nvSpPr>
        <p:spPr>
          <a:xfrm>
            <a:off x="850392" y="6025896"/>
            <a:ext cx="10515600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教学信息服务网</a:t>
            </a:r>
            <a:r>
              <a:rPr lang="en-US" alt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 (i.sjtu.edu.cn)</a:t>
            </a: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 → 信息查询 → 学生</a:t>
            </a:r>
            <a:r>
              <a:rPr lang="zh-CN" altLang="en-US" sz="1900" b="1" dirty="0">
                <a:solidFill>
                  <a:srgbClr val="1F4D78"/>
                </a:solidFill>
                <a:latin typeface="微软雅黑"/>
                <a:ea typeface="微软雅黑"/>
              </a:rPr>
              <a:t>成绩查询</a:t>
            </a:r>
            <a:endParaRPr lang="zh-CN" sz="190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1.1 课内成绩篇：分数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与</a:t>
            </a: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GPA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映射关系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6384" y="1746504"/>
            <a:ext cx="239572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5256" y="1783080"/>
            <a:ext cx="215798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百分制成绩</a:t>
            </a:r>
          </a:p>
        </p:txBody>
      </p:sp>
      <p:sp>
        <p:nvSpPr>
          <p:cNvPr id="6" name="Rectangle 5"/>
          <p:cNvSpPr/>
          <p:nvPr/>
        </p:nvSpPr>
        <p:spPr>
          <a:xfrm>
            <a:off x="3182112" y="1746504"/>
            <a:ext cx="111556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00984" y="1783080"/>
            <a:ext cx="87782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等级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46504"/>
            <a:ext cx="152704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1783080"/>
            <a:ext cx="128930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绩点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221991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2276856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95≤分数≤100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2221991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00984" y="2276856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A+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21991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2276856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4.3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642615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2697479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90≤分数&lt;95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2112" y="2642615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00984" y="2697479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42615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552" y="2697479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4.0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3063239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3118103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85≤分数&lt;90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3063239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00984" y="3118103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A−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063239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6552" y="3118103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3.7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3483863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" y="3538727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80≤分数&lt;85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2112" y="3483863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00984" y="3538727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B+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483863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552" y="3538727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3.3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3904487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" y="3959351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75≤分数&lt;80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3904487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00984" y="3959351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904487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552" y="3959351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3.0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4325112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5256" y="4379975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70≤分数&lt;75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82112" y="4325112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00984" y="4379975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B−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325112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16552" y="4379975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2.7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72784" y="1746504"/>
            <a:ext cx="239572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91656" y="1783080"/>
            <a:ext cx="215798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百分制成绩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68512" y="1746504"/>
            <a:ext cx="111556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87384" y="1783080"/>
            <a:ext cx="87782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等级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1746504"/>
            <a:ext cx="152704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02952" y="1783080"/>
            <a:ext cx="128930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绩点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2784" y="2221991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91656" y="2276856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67≤分数&lt;70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68512" y="2221991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87384" y="2276856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C+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2221991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02952" y="2276856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2.3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2784" y="2642615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91656" y="2697479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65≤分数&lt;67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642615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87384" y="2697479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84080" y="2642615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02952" y="2697479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2.0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72784" y="3063239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91656" y="3118103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62≤分数&lt;65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68512" y="3063239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87384" y="3118103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C−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84080" y="3063239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02952" y="3118103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1.7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72784" y="3483863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91656" y="3538727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60≤分数&lt;62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68512" y="3483863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87384" y="3538727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84080" y="3483863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02952" y="3538727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1.0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72784" y="3904487"/>
            <a:ext cx="23957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91656" y="3959351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分数&lt;60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68512" y="3904487"/>
            <a:ext cx="111556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787384" y="3959351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F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84080" y="3904487"/>
            <a:ext cx="152704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902952" y="3959351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72784" y="4325112"/>
            <a:ext cx="239572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91656" y="4379975"/>
            <a:ext cx="215798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P（合格）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68512" y="4325112"/>
            <a:ext cx="111556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87384" y="4379975"/>
            <a:ext cx="87782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84080" y="4325112"/>
            <a:ext cx="1527048" cy="42062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02952" y="4379975"/>
            <a:ext cx="1289304" cy="31089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不计GPA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1.1 课内成绩篇：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</a:rPr>
              <a:t>明确课程要求，让</a:t>
            </a: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学习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更有方向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384" y="1581912"/>
            <a:ext cx="3168000" cy="1225295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72184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85900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考核构成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039112"/>
            <a:ext cx="331927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作业、测验、实验、项目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期中和期末各占多少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81912"/>
            <a:ext cx="3168000" cy="1225295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15968" y="1472184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7408" y="1485900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考核内容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039112"/>
            <a:ext cx="331927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哪些章节、题型与知识点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需要达到怎样的要求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599911"/>
            <a:ext cx="3168000" cy="1225295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18704" y="1490183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0144" y="1503899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学习资源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057111"/>
            <a:ext cx="331927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教材、课件、作业与回放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教师答疑与补充资料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6089904"/>
            <a:ext cx="1024128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200" b="1" dirty="0">
                <a:solidFill>
                  <a:srgbClr val="1F4D78"/>
                </a:solidFill>
                <a:latin typeface="微软雅黑"/>
              </a:rPr>
              <a:t>知道要学什么、学到什么程度，才能更有针对性地学好一门课</a:t>
            </a:r>
            <a:endParaRPr lang="zh-CN" sz="220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A91ED2A-0E2C-0F89-CB6C-7FA769D07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64407"/>
            <a:ext cx="3268974" cy="59436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56DD6D5-56CC-CA83-BC81-1D819FEB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433" y="4165093"/>
            <a:ext cx="2059198" cy="16277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BA589E3-DB23-E434-49AC-14BD677FC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396" y="3104099"/>
            <a:ext cx="1877294" cy="276379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307D6AA-A43A-13F4-A794-F8F7FD948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690" y="3078297"/>
            <a:ext cx="1835834" cy="274771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508DE0D-2C8B-52B2-844B-B142D720F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3039974"/>
            <a:ext cx="2628923" cy="2666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1.1 课内成绩篇：学习资料的使用顺序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408176"/>
            <a:ext cx="10625328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5256" y="1554480"/>
            <a:ext cx="1271016" cy="55778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161288" cy="42976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9736" y="1508760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00000"/>
                </a:solidFill>
                <a:latin typeface="微软雅黑"/>
                <a:ea typeface="微软雅黑"/>
              </a:rPr>
              <a:t>当期课件、教材、作业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736" y="1901952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先完成课程目标，建立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起坚实的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知识框架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与复习基础</a:t>
            </a:r>
            <a:endParaRPr lang="zh-CN" sz="1800" b="0" dirty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6384" y="2459736"/>
            <a:ext cx="10625328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256" y="2606040"/>
            <a:ext cx="1271016" cy="55778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1161288" cy="42976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560320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传承·交大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上</a:t>
            </a: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往年题与笔记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953512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大学课程题型历年基本一致，是最直接的应试参考，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训练独立解题，检查薄弱环节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511296"/>
            <a:ext cx="10625328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5256" y="3657600"/>
            <a:ext cx="1271016" cy="55778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161288" cy="42976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答疑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611879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任课教师、助教、学科辅导营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、</a:t>
            </a:r>
            <a:r>
              <a:rPr lang="en-US" alt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AI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工具</a:t>
            </a:r>
            <a:endParaRPr lang="zh-CN" sz="2200" b="1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59736" y="4005072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学习先进的解题思路</a:t>
            </a:r>
            <a:r>
              <a:rPr lang="en-US" alt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/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经验技巧，事半功倍地提升自己解题能力</a:t>
            </a:r>
            <a:endParaRPr lang="zh-CN" sz="1800" b="0" dirty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" y="4562856"/>
            <a:ext cx="10625328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5256" y="4709160"/>
            <a:ext cx="1271016" cy="55778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1161288" cy="42976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拓展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4663440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B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站</a:t>
            </a: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公开课、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竞赛</a:t>
            </a: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教材</a:t>
            </a:r>
            <a:r>
              <a:rPr lang="zh-CN" altLang="en-US" sz="2200" b="1" dirty="0">
                <a:solidFill>
                  <a:srgbClr val="000000"/>
                </a:solidFill>
                <a:latin typeface="微软雅黑"/>
                <a:ea typeface="微软雅黑"/>
              </a:rPr>
              <a:t>、考研真题、外校试卷</a:t>
            </a:r>
            <a:endParaRPr lang="zh-CN" sz="2200" b="1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59736" y="5056632"/>
            <a:ext cx="8650224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666666"/>
                </a:solidFill>
                <a:latin typeface="微软雅黑"/>
                <a:ea typeface="微软雅黑"/>
              </a:rPr>
              <a:t>可于</a:t>
            </a:r>
            <a:r>
              <a:rPr lang="en-US" altLang="zh-CN" dirty="0" err="1">
                <a:solidFill>
                  <a:srgbClr val="666666"/>
                </a:solidFill>
                <a:latin typeface="微软雅黑"/>
                <a:ea typeface="微软雅黑"/>
              </a:rPr>
              <a:t>github</a:t>
            </a:r>
            <a:r>
              <a:rPr lang="en-US" altLang="zh-CN" dirty="0">
                <a:solidFill>
                  <a:srgbClr val="666666"/>
                </a:solidFill>
                <a:latin typeface="微软雅黑"/>
                <a:ea typeface="微软雅黑"/>
              </a:rPr>
              <a:t>/</a:t>
            </a:r>
            <a:r>
              <a:rPr lang="zh-CN" altLang="en-US" dirty="0">
                <a:solidFill>
                  <a:srgbClr val="666666"/>
                </a:solidFill>
                <a:latin typeface="微软雅黑"/>
                <a:ea typeface="微软雅黑"/>
              </a:rPr>
              <a:t>小红书</a:t>
            </a:r>
            <a:r>
              <a:rPr lang="en-US" altLang="zh-CN" dirty="0">
                <a:solidFill>
                  <a:srgbClr val="666666"/>
                </a:solidFill>
                <a:latin typeface="微软雅黑"/>
                <a:ea typeface="微软雅黑"/>
              </a:rPr>
              <a:t>/</a:t>
            </a:r>
            <a:r>
              <a:rPr lang="zh-CN" altLang="en-US" dirty="0">
                <a:solidFill>
                  <a:srgbClr val="666666"/>
                </a:solidFill>
                <a:latin typeface="微软雅黑"/>
                <a:ea typeface="微软雅黑"/>
              </a:rPr>
              <a:t>公众号等多个平台搜集，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在历年题</a:t>
            </a:r>
            <a:r>
              <a:rPr lang="en-US" alt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/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难题不足时拓展知识面</a:t>
            </a:r>
            <a:endParaRPr lang="zh-CN" sz="1800" b="0" dirty="0">
              <a:solidFill>
                <a:srgbClr val="666666"/>
              </a:solidFill>
              <a:latin typeface="微软雅黑"/>
              <a:ea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7240" y="5879592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897879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 dirty="0">
                <a:solidFill>
                  <a:srgbClr val="FFFFFF"/>
                </a:solidFill>
                <a:latin typeface="微软雅黑"/>
              </a:rPr>
              <a:t>先理解基础概念，再掌握经典题型，最后挑战综合难题，循序渐进</a:t>
            </a:r>
            <a:endParaRPr lang="zh-CN" sz="23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1.2 奖学金篇：有哪些奖学金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1399032"/>
            <a:ext cx="2871216" cy="59436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35608"/>
            <a:ext cx="2706624" cy="51206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国家 / 上海市奖学金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5344" y="1408176"/>
            <a:ext cx="7315200" cy="7040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通常要求学业与综测“双前10%”；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按综测评比，部分学院需答辩</a:t>
            </a:r>
            <a:endParaRPr lang="zh-CN" sz="18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6384" y="2203704"/>
            <a:ext cx="2871216" cy="59436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706624" cy="51206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国家励志奖学金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5344" y="2212848"/>
            <a:ext cx="7315200" cy="7040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面向符合家庭经济困难认定及品学要求的学生</a:t>
            </a:r>
            <a:r>
              <a:rPr lang="zh-CN" altLang="en-US" dirty="0">
                <a:solidFill>
                  <a:srgbClr val="000000"/>
                </a:solidFill>
                <a:latin typeface="微软雅黑"/>
              </a:rPr>
              <a:t>，按综测评比</a:t>
            </a:r>
            <a:endParaRPr lang="zh-CN" sz="18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6384" y="3008376"/>
            <a:ext cx="2871216" cy="59436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06624" cy="51206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专项奖学金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5344" y="3017520"/>
            <a:ext cx="7315200" cy="7040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看设奖对象、领域、名额和材料；</a:t>
            </a:r>
            <a:r>
              <a:rPr lang="zh-CN" altLang="en-US" dirty="0">
                <a:solidFill>
                  <a:srgbClr val="000000"/>
                </a:solidFill>
                <a:latin typeface="微软雅黑"/>
              </a:rPr>
              <a:t>按综测评比，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部分项目需要答辩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813048"/>
            <a:ext cx="2871216" cy="59436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9624"/>
            <a:ext cx="2706624" cy="51206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FFFF"/>
                </a:solidFill>
                <a:latin typeface="微软雅黑"/>
                <a:ea typeface="微软雅黑"/>
              </a:rPr>
              <a:t>校本科生优秀奖学金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3822191"/>
            <a:ext cx="7315200" cy="7040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A、B、C及学业进步奖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，直接按综测排名发放</a:t>
            </a: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；</a:t>
            </a:r>
            <a:r>
              <a:rPr lang="zh-CN" sz="1800" dirty="0">
                <a:solidFill>
                  <a:srgbClr val="000000"/>
                </a:solidFill>
                <a:latin typeface="微软雅黑"/>
                <a:ea typeface="微软雅黑"/>
              </a:rPr>
              <a:t>允许与其他奖学金兼得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17720"/>
            <a:ext cx="2871216" cy="594360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54296"/>
            <a:ext cx="2706624" cy="51206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院系自设奖学金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4626864"/>
            <a:ext cx="7315200" cy="70408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关注学院自己的项目、申请条件与评审安排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15584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5833872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先确认申请资格，再看排序、答辩与名额；学院通知决定具体流程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1.2 奖学金篇：</a:t>
            </a:r>
            <a:r>
              <a:rPr lang="zh-CN" altLang="zh-CN" sz="2800" b="1" dirty="0">
                <a:solidFill>
                  <a:srgbClr val="3F3F3F"/>
                </a:solidFill>
                <a:latin typeface="微软雅黑"/>
              </a:rPr>
              <a:t>综测</a:t>
            </a:r>
            <a:r>
              <a:rPr lang="en-US" altLang="zh-CN" sz="2800" b="1" dirty="0">
                <a:solidFill>
                  <a:srgbClr val="3F3F3F"/>
                </a:solidFill>
                <a:latin typeface="微软雅黑"/>
              </a:rPr>
              <a:t>/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</a:rPr>
              <a:t>素拓</a:t>
            </a:r>
            <a:r>
              <a:rPr lang="zh-CN" altLang="zh-CN" sz="2800" b="1" dirty="0">
                <a:solidFill>
                  <a:srgbClr val="3F3F3F"/>
                </a:solidFill>
                <a:latin typeface="微软雅黑"/>
              </a:rPr>
              <a:t>要看懂什么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384" y="1490472"/>
            <a:ext cx="3328416" cy="22494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80744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94460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基础分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980944" cy="7680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先把已有的分拿完整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455164"/>
            <a:ext cx="2980944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b="0" dirty="0">
                <a:solidFill>
                  <a:srgbClr val="000000"/>
                </a:solidFill>
                <a:latin typeface="微软雅黑"/>
                <a:ea typeface="微软雅黑"/>
              </a:rPr>
              <a:t>日常班级活动参与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b="0" dirty="0">
                <a:solidFill>
                  <a:srgbClr val="000000"/>
                </a:solidFill>
                <a:latin typeface="微软雅黑"/>
                <a:ea typeface="微软雅黑"/>
              </a:rPr>
              <a:t>心理健康活动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dirty="0">
                <a:solidFill>
                  <a:srgbClr val="000000"/>
                </a:solidFill>
                <a:latin typeface="微软雅黑"/>
                <a:ea typeface="微软雅黑"/>
              </a:rPr>
              <a:t>竞赛报名参与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备齐材料，按时申报不漏项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1490472"/>
            <a:ext cx="3328416" cy="22494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0832" y="1380744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394460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容易拿的分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8"/>
            <a:ext cx="2980944" cy="7680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1F4D78"/>
                </a:solidFill>
                <a:latin typeface="微软雅黑"/>
                <a:ea typeface="微软雅黑"/>
              </a:rPr>
              <a:t>投入较小、规则清楚的项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46020"/>
            <a:ext cx="2980944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先看认定条件和该项剩余上限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dirty="0">
                <a:solidFill>
                  <a:srgbClr val="000000"/>
                </a:solidFill>
                <a:latin typeface="微软雅黑"/>
                <a:ea typeface="微软雅黑"/>
              </a:rPr>
              <a:t>志愿服务、学业辅导</a:t>
            </a:r>
            <a:endParaRPr lang="en-US" altLang="zh-CN" sz="17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b="0" dirty="0">
                <a:solidFill>
                  <a:srgbClr val="000000"/>
                </a:solidFill>
                <a:latin typeface="微软雅黑"/>
                <a:ea typeface="微软雅黑"/>
              </a:rPr>
              <a:t>讲座</a:t>
            </a:r>
            <a:r>
              <a:rPr lang="en-US" alt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sz="1700" b="0" dirty="0">
                <a:solidFill>
                  <a:srgbClr val="000000"/>
                </a:solidFill>
                <a:latin typeface="微软雅黑"/>
                <a:ea typeface="微软雅黑"/>
              </a:rPr>
              <a:t>运动会等校园活动参与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dirty="0">
                <a:solidFill>
                  <a:srgbClr val="000000"/>
                </a:solidFill>
                <a:latin typeface="微软雅黑"/>
                <a:ea typeface="微软雅黑"/>
              </a:rPr>
              <a:t>班干部</a:t>
            </a:r>
            <a:r>
              <a:rPr lang="en-US" altLang="zh-CN" sz="170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sz="1700" dirty="0">
                <a:solidFill>
                  <a:srgbClr val="000000"/>
                </a:solidFill>
                <a:latin typeface="微软雅黑"/>
                <a:ea typeface="微软雅黑"/>
              </a:rPr>
              <a:t>社团核心成员</a:t>
            </a:r>
            <a:endParaRPr 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01583" y="1490472"/>
            <a:ext cx="3328416" cy="224942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28431" y="1380744"/>
            <a:ext cx="20421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394460"/>
            <a:ext cx="18684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拉开差距的分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29968"/>
            <a:ext cx="2980944" cy="7680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高水平成果，可能带来更大增分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752344"/>
            <a:ext cx="2980944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科研、竞赛等成果投入更大</a:t>
            </a:r>
            <a:endParaRPr lang="en-US" altLang="zh-CN" sz="17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lang="zh-CN" altLang="zh-CN" sz="1700" dirty="0">
                <a:solidFill>
                  <a:srgbClr val="000000"/>
                </a:solidFill>
                <a:latin typeface="微软雅黑"/>
              </a:rPr>
              <a:t>可积累长期能力与经历</a:t>
            </a:r>
            <a:endParaRPr lang="en-US" altLang="zh-CN" sz="17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700" dirty="0">
                <a:solidFill>
                  <a:srgbClr val="000000"/>
                </a:solidFill>
                <a:latin typeface="微软雅黑"/>
                <a:ea typeface="微软雅黑"/>
              </a:rPr>
              <a:t>参与其意义在加分之外</a:t>
            </a:r>
            <a:endParaRPr lang="en-US" altLang="zh-CN" sz="17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7240" y="5989320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6007607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solidFill>
                  <a:srgbClr val="FFFFFF"/>
                </a:solidFill>
                <a:latin typeface="微软雅黑"/>
              </a:rPr>
              <a:t>想要彻底了解：</a:t>
            </a:r>
            <a:r>
              <a:rPr lang="zh-CN" altLang="zh-CN" sz="2100" b="1" dirty="0">
                <a:solidFill>
                  <a:srgbClr val="FFFFFF"/>
                </a:solidFill>
                <a:latin typeface="微软雅黑"/>
              </a:rPr>
              <a:t>读本院细则 → 参考往届同学</a:t>
            </a:r>
            <a:r>
              <a:rPr lang="zh-CN" altLang="en-US" sz="2100" b="1" dirty="0">
                <a:solidFill>
                  <a:srgbClr val="FFFFFF"/>
                </a:solidFill>
                <a:latin typeface="微软雅黑"/>
              </a:rPr>
              <a:t>的得分方式</a:t>
            </a:r>
            <a:r>
              <a:rPr lang="zh-CN" altLang="zh-CN" sz="2100" b="1" dirty="0">
                <a:solidFill>
                  <a:srgbClr val="FFFFFF"/>
                </a:solidFill>
                <a:latin typeface="微软雅黑"/>
              </a:rPr>
              <a:t>→ 自己</a:t>
            </a:r>
            <a:r>
              <a:rPr lang="zh-CN" altLang="en-US" sz="2100" b="1" dirty="0">
                <a:solidFill>
                  <a:srgbClr val="FFFFFF"/>
                </a:solidFill>
                <a:latin typeface="微软雅黑"/>
              </a:rPr>
              <a:t>经历</a:t>
            </a:r>
            <a:r>
              <a:rPr lang="zh-CN" altLang="zh-CN" sz="2100" b="1" dirty="0">
                <a:solidFill>
                  <a:srgbClr val="FFFFFF"/>
                </a:solidFill>
                <a:latin typeface="微软雅黑"/>
              </a:rPr>
              <a:t>完整评一次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631C184-3339-5F87-50CD-3E3E693B91AD}"/>
              </a:ext>
            </a:extLst>
          </p:cNvPr>
          <p:cNvSpPr txBox="1"/>
          <p:nvPr/>
        </p:nvSpPr>
        <p:spPr>
          <a:xfrm>
            <a:off x="1390980" y="5600700"/>
            <a:ext cx="10515600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00" b="1" dirty="0">
                <a:solidFill>
                  <a:srgbClr val="1F4D78"/>
                </a:solidFill>
                <a:latin typeface="微软雅黑"/>
                <a:ea typeface="微软雅黑"/>
              </a:rPr>
              <a:t>注：素拓分数存在上限，并非上述项累加，其实基础分较易拿满；不同院系规则不同</a:t>
            </a:r>
            <a:endParaRPr lang="zh-CN" sz="1900" b="1" dirty="0">
              <a:solidFill>
                <a:srgbClr val="1F4D78"/>
              </a:solidFill>
              <a:latin typeface="微软雅黑"/>
              <a:ea typeface="微软雅黑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EEBCADF-C182-D0E0-2694-0EC7603B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849624"/>
            <a:ext cx="3209948" cy="133351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3EAE5995-A2EF-171D-13A9-5EBDD691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90" t="1461" b="1"/>
          <a:stretch>
            <a:fillRect/>
          </a:stretch>
        </p:blipFill>
        <p:spPr>
          <a:xfrm>
            <a:off x="8275851" y="3844052"/>
            <a:ext cx="2848023" cy="65685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2785061-64E0-51ED-EB2F-EF70E5A6D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4605063"/>
            <a:ext cx="2775535" cy="70944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D76FABD-544A-34FE-013F-DB2D2EB98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78" y="3967385"/>
            <a:ext cx="2545044" cy="14444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1.3 科研篇：如何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选择</a:t>
            </a: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研究方向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3319272" cy="25694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专业基础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286000"/>
            <a:ext cx="267240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>
              <a:lnSpc>
                <a:spcPct val="108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微软雅黑"/>
              </a:rPr>
              <a:t>结合专业知识寻找研究切入点</a:t>
            </a:r>
            <a:endParaRPr lang="zh-CN" sz="2200" b="1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" y="3456432"/>
            <a:ext cx="2898648" cy="4663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我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可以</a:t>
            </a:r>
            <a:r>
              <a:rPr lang="zh-CN" altLang="en-US" dirty="0">
                <a:solidFill>
                  <a:srgbClr val="666666"/>
                </a:solidFill>
                <a:latin typeface="微软雅黑"/>
                <a:ea typeface="微软雅黑"/>
              </a:rPr>
              <a:t>从哪里入手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1572768"/>
            <a:ext cx="3319272" cy="25694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个人兴趣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86000"/>
            <a:ext cx="2812333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000000"/>
                </a:solidFill>
                <a:latin typeface="微软雅黑"/>
                <a:ea typeface="微软雅黑"/>
              </a:rPr>
              <a:t>关注愿意持续追问的问题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456432"/>
            <a:ext cx="2898648" cy="4663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我愿意长期研究什么？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1572768"/>
            <a:ext cx="3319272" cy="25694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28431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时代需求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286000"/>
            <a:ext cx="2765740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000000"/>
                </a:solidFill>
                <a:latin typeface="微软雅黑"/>
                <a:ea typeface="微软雅黑"/>
              </a:rPr>
              <a:t>了解学术前沿与真实社会需求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456432"/>
            <a:ext cx="2898648" cy="4663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什么问题是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值得</a:t>
            </a:r>
            <a:r>
              <a:rPr lang="zh-CN" altLang="en-US" dirty="0">
                <a:solidFill>
                  <a:srgbClr val="666666"/>
                </a:solidFill>
                <a:latin typeface="微软雅黑"/>
                <a:ea typeface="微软雅黑"/>
              </a:rPr>
              <a:t>去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做</a:t>
            </a:r>
            <a:r>
              <a:rPr lang="zh-CN" altLang="en-US" sz="1800" b="0" dirty="0">
                <a:solidFill>
                  <a:srgbClr val="666666"/>
                </a:solidFill>
                <a:latin typeface="微软雅黑"/>
                <a:ea typeface="微软雅黑"/>
              </a:rPr>
              <a:t>的</a:t>
            </a:r>
            <a:r>
              <a:rPr lang="zh-CN" sz="1800" b="0" dirty="0">
                <a:solidFill>
                  <a:srgbClr val="666666"/>
                </a:solidFill>
                <a:latin typeface="微软雅黑"/>
                <a:ea typeface="微软雅黑"/>
              </a:rPr>
              <a:t>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" y="5157216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3" y="5175504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方向没有绝对优劣；通过尝试，找到兴趣、能力与条件的匹配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1.3 科研篇：本科生从哪些入口开始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10634472" cy="1837943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57632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76756"/>
            <a:ext cx="55895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FFFFFF"/>
                </a:solidFill>
                <a:latin typeface="微软雅黑"/>
                <a:ea typeface="微软雅黑"/>
              </a:rPr>
              <a:t>最直接的入口：联系教师 / 实验室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" y="232257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43584" y="2221992"/>
            <a:ext cx="9857232" cy="5577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 dirty="0">
                <a:solidFill>
                  <a:srgbClr val="000000"/>
                </a:solidFill>
                <a:latin typeface="微软雅黑"/>
                <a:ea typeface="微软雅黑"/>
              </a:rPr>
              <a:t>从教师主页和近期工作了解方向，</a:t>
            </a:r>
            <a:r>
              <a:rPr lang="zh-CN" altLang="en-US" sz="2200" b="0" dirty="0">
                <a:solidFill>
                  <a:srgbClr val="000000"/>
                </a:solidFill>
                <a:latin typeface="微软雅黑"/>
                <a:ea typeface="微软雅黑"/>
              </a:rPr>
              <a:t>准备好个人材料，邮件联系</a:t>
            </a:r>
            <a:endParaRPr lang="zh-CN" sz="22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6384" y="3986784"/>
            <a:ext cx="3319272" cy="1746503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387705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89077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PRP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617720"/>
            <a:ext cx="2907792" cy="8321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在项目平台读课题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联系导师后按通知报名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3986784"/>
            <a:ext cx="3319272" cy="1746503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387705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89077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大创等项目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617720"/>
            <a:ext cx="2907792" cy="8321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围绕具体问题组建团队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经历申报、执行与结题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3986784"/>
            <a:ext cx="3319272" cy="1746503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28431" y="3877056"/>
            <a:ext cx="28803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3890772"/>
            <a:ext cx="27066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䇹政 / 学院项目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617720"/>
            <a:ext cx="2907792" cy="8321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了解选拔对象与培养安排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关注导师支持和考核要求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1.3 科研篇：联系导师与初次交流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63624"/>
            <a:ext cx="5148072" cy="4050791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53896"/>
            <a:ext cx="28041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67612"/>
            <a:ext cx="26304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邮件中说清四件事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2157984"/>
            <a:ext cx="4599432" cy="3566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身份与基础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551176"/>
            <a:ext cx="4599432" cy="3840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学院、年级、相关课程</a:t>
            </a:r>
            <a:r>
              <a:rPr lang="zh-CN" altLang="en-US" sz="1800" b="1" dirty="0">
                <a:solidFill>
                  <a:srgbClr val="000000"/>
                </a:solidFill>
                <a:latin typeface="微软雅黑"/>
                <a:ea typeface="微软雅黑"/>
              </a:rPr>
              <a:t>成绩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微软雅黑"/>
                <a:ea typeface="微软雅黑"/>
              </a:rPr>
              <a:t>项目</a:t>
            </a: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经历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953512"/>
            <a:ext cx="4599432" cy="3566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具体兴趣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346704"/>
            <a:ext cx="4599432" cy="3840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关注哪项工作，已经了解什么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749039"/>
            <a:ext cx="4599432" cy="3566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可投入情况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4142231"/>
            <a:ext cx="4599432" cy="3840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课程负担、稳定可投入的时间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4544568"/>
            <a:ext cx="4599432" cy="3566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1F4D78"/>
                </a:solidFill>
                <a:latin typeface="微软雅黑"/>
                <a:ea typeface="微软雅黑"/>
              </a:rPr>
              <a:t>较为</a:t>
            </a:r>
            <a:r>
              <a:rPr lang="zh-CN" sz="2000" b="1" dirty="0">
                <a:solidFill>
                  <a:srgbClr val="1F4D78"/>
                </a:solidFill>
                <a:latin typeface="微软雅黑"/>
                <a:ea typeface="微软雅黑"/>
              </a:rPr>
              <a:t>明确请求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4937759"/>
            <a:ext cx="4599432" cy="3840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000000"/>
                </a:solidFill>
                <a:latin typeface="微软雅黑"/>
                <a:ea typeface="微软雅黑"/>
              </a:rPr>
              <a:t>希望</a:t>
            </a:r>
            <a:r>
              <a:rPr lang="zh-CN" altLang="en-US" sz="1800" b="1" dirty="0">
                <a:solidFill>
                  <a:srgbClr val="000000"/>
                </a:solidFill>
                <a:latin typeface="微软雅黑"/>
                <a:ea typeface="微软雅黑"/>
              </a:rPr>
              <a:t>收获什么，后续规划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（出国</a:t>
            </a:r>
            <a:r>
              <a:rPr lang="en-US" alt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/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保研）</a:t>
            </a:r>
            <a:endParaRPr lang="zh-CN" sz="18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45352" y="1563624"/>
            <a:ext cx="5148072" cy="4050791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453896"/>
            <a:ext cx="24993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467612"/>
            <a:ext cx="23256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微软雅黑"/>
                <a:ea typeface="微软雅黑"/>
              </a:rPr>
              <a:t>通过</a:t>
            </a:r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交流确认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4808" y="2295144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3408" y="2194560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谁会直接指导我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8" y="3090672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2990088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前期任务与交付是什么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8" y="3886200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3408" y="3785615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多久交流一次，如何获得反馈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8" y="4681728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3408" y="4581144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对成果、贡献与署名有什么约定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897880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5916168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初步了解</a:t>
            </a:r>
            <a:r>
              <a:rPr lang="zh-CN" sz="2000" b="1" dirty="0">
                <a:solidFill>
                  <a:srgbClr val="FFFFFF"/>
                </a:solidFill>
                <a:latin typeface="微软雅黑"/>
                <a:ea typeface="微软雅黑"/>
              </a:rPr>
              <a:t>再联系；把当前基础、实际尝试</a:t>
            </a: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、预期投入、</a:t>
            </a:r>
            <a:r>
              <a:rPr lang="zh-CN" sz="2000" b="1" dirty="0">
                <a:solidFill>
                  <a:srgbClr val="FFFFFF"/>
                </a:solidFill>
                <a:latin typeface="微软雅黑"/>
                <a:ea typeface="微软雅黑"/>
              </a:rPr>
              <a:t>希望</a:t>
            </a: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收获</a:t>
            </a:r>
            <a:r>
              <a:rPr lang="zh-CN" sz="2000" b="1" dirty="0">
                <a:solidFill>
                  <a:srgbClr val="FFFFFF"/>
                </a:solidFill>
                <a:latin typeface="微软雅黑"/>
                <a:ea typeface="微软雅黑"/>
              </a:rPr>
              <a:t>写具体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1.3 科研篇：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认识到科研</a:t>
            </a: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高上限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与风险并存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5148072" cy="3867911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24993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76756"/>
            <a:ext cx="23256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为什么值得尝试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572768"/>
            <a:ext cx="5166360" cy="3867911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24993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476756"/>
            <a:ext cx="23256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为什么也会困难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" y="2295144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194560"/>
            <a:ext cx="437083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接触尚无标准答案的问题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2999232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2898648"/>
            <a:ext cx="437083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训练检索、实验、推理与表达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3703320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3602736"/>
            <a:ext cx="437083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深入理解</a:t>
            </a:r>
            <a:r>
              <a:rPr lang="zh-CN" altLang="en-US" sz="1900" dirty="0">
                <a:solidFill>
                  <a:srgbClr val="000000"/>
                </a:solidFill>
                <a:latin typeface="微软雅黑"/>
                <a:ea typeface="微软雅黑"/>
              </a:rPr>
              <a:t>专业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，检验长期兴趣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4407408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4306824"/>
            <a:ext cx="4370832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积累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能力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与论文等成果，在升学、求职中获得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认可</a:t>
            </a:r>
            <a:r>
              <a:rPr lang="zh-CN" altLang="en-US" sz="1900" b="0" dirty="0">
                <a:solidFill>
                  <a:srgbClr val="000000"/>
                </a:solidFill>
                <a:latin typeface="微软雅黑"/>
                <a:ea typeface="微软雅黑"/>
              </a:rPr>
              <a:t>（大于成绩上的高分）</a:t>
            </a:r>
            <a:endParaRPr lang="zh-CN" sz="19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55664" y="2295144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4264" y="2194560"/>
            <a:ext cx="4370832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投入时间与产出不总是成正比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5664" y="3163823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84264" y="3063239"/>
            <a:ext cx="4370832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想法可能失败，实验可能反复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4032504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84264" y="3931920"/>
            <a:ext cx="4370832" cy="6766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成果受到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运气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、资源和协作影响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861304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879592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用小任务进入，用阶段性反馈推进，用真实体验判断是否继续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1.4 竞赛篇：按任务类型认识赛事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435608"/>
            <a:ext cx="2267712" cy="44805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490472"/>
            <a:ext cx="2048256" cy="3291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FFFF"/>
                </a:solidFill>
                <a:latin typeface="微软雅黑"/>
                <a:ea typeface="微软雅黑"/>
              </a:rPr>
              <a:t>任务类型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1435608"/>
            <a:ext cx="5385816" cy="44805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63824" y="1490472"/>
            <a:ext cx="5166359" cy="3291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FFFF"/>
                </a:solidFill>
                <a:latin typeface="微软雅黑"/>
                <a:ea typeface="微软雅黑"/>
              </a:rPr>
              <a:t>代表赛事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8439912" y="1435608"/>
            <a:ext cx="2990088" cy="448056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490472"/>
            <a:ext cx="2770632" cy="3291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FFFF"/>
                </a:solidFill>
                <a:latin typeface="微软雅黑"/>
                <a:ea typeface="微软雅黑"/>
              </a:rPr>
              <a:t>主要准备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883664"/>
            <a:ext cx="2267712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2048256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学科知识与解题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1883664"/>
            <a:ext cx="538581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1938528"/>
            <a:ext cx="5166359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数学竞赛、物理竞赛、全国大学生英语竞赛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9912" y="1883664"/>
            <a:ext cx="2990088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938528"/>
            <a:ext cx="277063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课程基础与专项训练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587752"/>
            <a:ext cx="2267712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642616"/>
            <a:ext cx="2048256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算法、建模与方案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4096" y="2587752"/>
            <a:ext cx="538581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63824" y="2642616"/>
            <a:ext cx="5166359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ICPC / CCPC、国赛数模、MCM / ICM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9912" y="2587752"/>
            <a:ext cx="2990088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2642616"/>
            <a:ext cx="277063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算法或建模，限时求解与表达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291840"/>
            <a:ext cx="2267712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346704"/>
            <a:ext cx="2048256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工程系统与作品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54096" y="3291840"/>
            <a:ext cx="538581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63824" y="3346704"/>
            <a:ext cx="5166359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电子设计、RoboMaster、大学生方程式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2" y="3291840"/>
            <a:ext cx="2990088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3346704"/>
            <a:ext cx="277063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设计、实现、调试与团队分工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3995928"/>
            <a:ext cx="2267712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050791"/>
            <a:ext cx="2048256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课外学术科技成果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54096" y="3995928"/>
            <a:ext cx="538581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63824" y="4050791"/>
            <a:ext cx="5166359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“挑战杯”全国大学生课外学术科技作品竞赛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9912" y="3995928"/>
            <a:ext cx="2990088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4050791"/>
            <a:ext cx="277063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dirty="0">
                <a:solidFill>
                  <a:srgbClr val="000000"/>
                </a:solidFill>
                <a:latin typeface="微软雅黑"/>
                <a:ea typeface="微软雅黑"/>
              </a:rPr>
              <a:t>研究问题、学术证据或科技作品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700016"/>
            <a:ext cx="2267712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754880"/>
            <a:ext cx="2048256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0">
                <a:solidFill>
                  <a:srgbClr val="000000"/>
                </a:solidFill>
                <a:latin typeface="微软雅黑"/>
                <a:ea typeface="微软雅黑"/>
              </a:rPr>
              <a:t>创新与创业项目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54096" y="4700016"/>
            <a:ext cx="5385816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63824" y="4754880"/>
            <a:ext cx="5166359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“挑战杯”创业计划、中国国际大学生创新大赛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9912" y="4700016"/>
            <a:ext cx="2990088" cy="70408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4754880"/>
            <a:ext cx="2770632" cy="6126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000000"/>
                </a:solidFill>
                <a:latin typeface="微软雅黑"/>
                <a:ea typeface="微软雅黑"/>
              </a:rPr>
              <a:t>需求、方案、验证与发展计划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1.4 竞赛篇：从自己的起点选择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3319272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已有基础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194560"/>
            <a:ext cx="2898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F4D78"/>
                </a:solidFill>
                <a:latin typeface="微软雅黑"/>
                <a:ea typeface="微软雅黑"/>
              </a:rPr>
              <a:t>延续学科积累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926080"/>
            <a:ext cx="2898648" cy="15636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大学生数学竞赛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大学生物理竞赛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ICPC / CCPC等</a:t>
            </a:r>
            <a:r>
              <a:rPr lang="zh-CN" altLang="en-US" sz="1800" b="0" dirty="0">
                <a:solidFill>
                  <a:srgbClr val="000000"/>
                </a:solidFill>
                <a:latin typeface="微软雅黑"/>
                <a:ea typeface="微软雅黑"/>
              </a:rPr>
              <a:t>程序竞赛</a:t>
            </a:r>
            <a:endParaRPr lang="zh-CN" sz="18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6" y="4928616"/>
            <a:ext cx="2898648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关注大学赛制与训练要求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3984" y="1572768"/>
            <a:ext cx="3319272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已有成果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194560"/>
            <a:ext cx="2898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F4D78"/>
                </a:solidFill>
                <a:latin typeface="微软雅黑"/>
                <a:ea typeface="微软雅黑"/>
              </a:rPr>
              <a:t>延伸科研与项目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26080"/>
            <a:ext cx="2898648" cy="15636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“挑战杯”课外学术科技作品竞赛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中国国际大学生创新大赛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“盛宣怀杯”等校内赛事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928616"/>
            <a:ext cx="2898648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看成果成熟度与适配赛道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1572768"/>
            <a:ext cx="3319272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28431" y="1463040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476756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长期兴趣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2898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F4D78"/>
                </a:solidFill>
                <a:latin typeface="微软雅黑"/>
                <a:ea typeface="微软雅黑"/>
              </a:rPr>
              <a:t>从校队与社团开始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926080"/>
            <a:ext cx="2898648" cy="15636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RoboMaster机器人竞赛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电子设计竞赛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大学生方程式等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4928616"/>
            <a:ext cx="2898648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看是否愿意持续训练协作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998464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6016751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先想清楚想获得什么，再决定</a:t>
            </a:r>
            <a:r>
              <a:rPr lang="zh-CN" altLang="en-US" sz="2200" b="1" dirty="0">
                <a:solidFill>
                  <a:srgbClr val="FFFFFF"/>
                </a:solidFill>
                <a:latin typeface="微软雅黑"/>
                <a:ea typeface="微软雅黑"/>
              </a:rPr>
              <a:t>是否投入</a:t>
            </a:r>
            <a:r>
              <a:rPr lang="en-US" alt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/</a:t>
            </a:r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投入</a:t>
            </a:r>
            <a:r>
              <a:rPr lang="zh-CN" altLang="en-US" sz="2200" b="1" dirty="0">
                <a:solidFill>
                  <a:srgbClr val="FFFFFF"/>
                </a:solidFill>
                <a:latin typeface="微软雅黑"/>
                <a:ea typeface="微软雅黑"/>
              </a:rPr>
              <a:t>什么</a:t>
            </a:r>
            <a:endParaRPr lang="zh-CN" sz="22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1.5 升学篇：先了解不同去向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389888"/>
            <a:ext cx="2423160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5256" y="1426464"/>
            <a:ext cx="2185415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去向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9544" y="1389888"/>
            <a:ext cx="8202168" cy="475488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28415" y="1426464"/>
            <a:ext cx="796442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主要准备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865376"/>
            <a:ext cx="24231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2185415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直接就业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9544" y="1865376"/>
            <a:ext cx="8202168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8415" y="1920240"/>
            <a:ext cx="7964424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专业能力、项目与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实习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、招聘准备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651760"/>
            <a:ext cx="2423160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706624"/>
            <a:ext cx="2185415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推免硕士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9544" y="2651760"/>
            <a:ext cx="8202168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8415" y="2706624"/>
            <a:ext cx="7964424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50" b="0" dirty="0">
                <a:solidFill>
                  <a:srgbClr val="000000"/>
                </a:solidFill>
                <a:latin typeface="微软雅黑"/>
                <a:ea typeface="微软雅黑"/>
              </a:rPr>
              <a:t>本校推免资格 + 目标院校接收</a:t>
            </a:r>
            <a:r>
              <a:rPr lang="zh-CN" altLang="en-US" sz="1850" b="0" dirty="0">
                <a:solidFill>
                  <a:srgbClr val="000000"/>
                </a:solidFill>
                <a:latin typeface="微软雅黑"/>
                <a:ea typeface="微软雅黑"/>
              </a:rPr>
              <a:t>，</a:t>
            </a:r>
            <a:r>
              <a:rPr lang="zh-CN" sz="1850" b="0" dirty="0">
                <a:solidFill>
                  <a:srgbClr val="000000"/>
                </a:solidFill>
                <a:latin typeface="微软雅黑"/>
                <a:ea typeface="微软雅黑"/>
              </a:rPr>
              <a:t>重点准备</a:t>
            </a:r>
            <a:r>
              <a:rPr lang="zh-CN" sz="1850" b="1" dirty="0">
                <a:solidFill>
                  <a:srgbClr val="000000"/>
                </a:solidFill>
                <a:latin typeface="微软雅黑"/>
                <a:ea typeface="微软雅黑"/>
              </a:rPr>
              <a:t>院系考核</a:t>
            </a:r>
            <a:r>
              <a:rPr lang="zh-CN" sz="1850" b="0" dirty="0">
                <a:solidFill>
                  <a:srgbClr val="000000"/>
                </a:solidFill>
                <a:latin typeface="微软雅黑"/>
                <a:ea typeface="微软雅黑"/>
              </a:rPr>
              <a:t>（如机考、笔试、面试）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438144"/>
            <a:ext cx="24231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493008"/>
            <a:ext cx="2185415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推免直博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9544" y="3438144"/>
            <a:ext cx="8202168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28415" y="3493008"/>
            <a:ext cx="7964424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本校推免资格 + 目标院校接收</a:t>
            </a:r>
            <a:r>
              <a:rPr lang="zh-CN" altLang="en-US" sz="1900" b="0" dirty="0">
                <a:solidFill>
                  <a:srgbClr val="000000"/>
                </a:solidFill>
                <a:latin typeface="微软雅黑"/>
                <a:ea typeface="微软雅黑"/>
              </a:rPr>
              <a:t>，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重点争取</a:t>
            </a:r>
            <a:r>
              <a:rPr lang="zh-CN" altLang="en-US" sz="1900" b="1" dirty="0">
                <a:solidFill>
                  <a:srgbClr val="000000"/>
                </a:solidFill>
                <a:latin typeface="微软雅黑"/>
                <a:ea typeface="微软雅黑"/>
              </a:rPr>
              <a:t>意向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导师认可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224528"/>
            <a:ext cx="2423160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2185415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统考硕士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4224528"/>
            <a:ext cx="8202168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28415" y="4279392"/>
            <a:ext cx="7964424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确定目标院校与专业，准备初试科目、复试与面试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010912"/>
            <a:ext cx="24231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5065776"/>
            <a:ext cx="2185415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境外硕士 / 博士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9544" y="5010912"/>
            <a:ext cx="8202168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28415" y="5065776"/>
            <a:ext cx="7964424" cy="6766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GPA、语言、研究 / 实践经历、</a:t>
            </a:r>
            <a:r>
              <a:rPr lang="zh-CN" sz="1900" b="1" dirty="0">
                <a:solidFill>
                  <a:srgbClr val="000000"/>
                </a:solidFill>
                <a:latin typeface="微软雅黑"/>
                <a:ea typeface="微软雅黑"/>
              </a:rPr>
              <a:t>推荐信</a:t>
            </a:r>
            <a:r>
              <a:rPr lang="zh-CN" sz="1900" b="0" dirty="0">
                <a:solidFill>
                  <a:srgbClr val="000000"/>
                </a:solidFill>
                <a:latin typeface="微软雅黑"/>
                <a:ea typeface="微软雅黑"/>
              </a:rPr>
              <a:t>与申请材料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1.5 升学篇：推免要同时完成两件事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91056"/>
            <a:ext cx="5148072" cy="3008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4137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95044"/>
            <a:ext cx="32400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本科推荐端：拿到资格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414015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231343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本校 / 本院组织推荐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14553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304495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 dirty="0">
                <a:solidFill>
                  <a:srgbClr val="000000"/>
                </a:solidFill>
                <a:latin typeface="微软雅黑"/>
                <a:ea typeface="微软雅黑"/>
              </a:rPr>
              <a:t>核对</a:t>
            </a:r>
            <a:r>
              <a:rPr lang="zh-CN" sz="2100" b="1" dirty="0">
                <a:solidFill>
                  <a:srgbClr val="000000"/>
                </a:solidFill>
                <a:latin typeface="微软雅黑"/>
                <a:ea typeface="微软雅黑"/>
              </a:rPr>
              <a:t>核心成绩</a:t>
            </a:r>
            <a:r>
              <a:rPr lang="zh-CN" sz="2100" b="0" dirty="0">
                <a:solidFill>
                  <a:srgbClr val="000000"/>
                </a:solidFill>
                <a:latin typeface="微软雅黑"/>
                <a:ea typeface="微软雅黑"/>
              </a:rPr>
              <a:t>、排名与资格条件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387705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77647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按要求申报，关注加分与公示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591056"/>
            <a:ext cx="5148072" cy="3008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481328"/>
            <a:ext cx="37185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495044"/>
            <a:ext cx="35448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研究生接收端：获得接收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3952" y="2414015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31343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目标院校 / 院系组织申请与考核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314553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2552" y="304495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审查成绩、研究经历与方向匹配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387705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2552" y="3776472"/>
            <a:ext cx="438912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关注名额、结果效力与确认时限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5340096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推荐资格 ＋ 接收单位 → 国家推免系统完成正式手续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1.5 升学篇：夏令营、预推免与九推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91056"/>
            <a:ext cx="3328416" cy="40873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9504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夏令营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212848"/>
            <a:ext cx="2962656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大三春末—暑期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916936"/>
            <a:ext cx="2962656" cy="13716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 dirty="0">
                <a:solidFill>
                  <a:srgbClr val="000000"/>
                </a:solidFill>
                <a:latin typeface="微软雅黑"/>
                <a:ea typeface="微软雅黑"/>
              </a:rPr>
              <a:t>设营院系的重要选拔批次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 dirty="0">
                <a:solidFill>
                  <a:srgbClr val="000000"/>
                </a:solidFill>
                <a:latin typeface="微软雅黑"/>
                <a:ea typeface="微软雅黑"/>
              </a:rPr>
              <a:t>要提前准备、尽早关注</a:t>
            </a:r>
            <a:endParaRPr lang="en-US" altLang="zh-CN" sz="20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endParaRPr lang="zh-CN" sz="20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9264" y="4672584"/>
            <a:ext cx="2962656" cy="7223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申请 → 入营 → 交流 / 考核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3984" y="1591056"/>
            <a:ext cx="3328416" cy="40873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49504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预推免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12848"/>
            <a:ext cx="2962656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大三暑期—大四9月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916936"/>
            <a:ext cx="2962656" cy="13716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部分院系接续夏令营、补充名额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也有院系仅通过预推免选拔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4672584"/>
            <a:ext cx="2962656" cy="7223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报名 → 材料审核 → 考核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1591056"/>
            <a:ext cx="3328416" cy="40873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28431" y="1481328"/>
            <a:ext cx="29946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1495044"/>
            <a:ext cx="28209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九推 / 正式接收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212848"/>
            <a:ext cx="2962656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1F4D78"/>
                </a:solidFill>
                <a:latin typeface="微软雅黑"/>
                <a:ea typeface="微软雅黑"/>
              </a:rPr>
              <a:t>大四9月前后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916936"/>
            <a:ext cx="2962656" cy="13716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关注剩余名额与递补机会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所有接收仍需完成正式确认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4672584"/>
            <a:ext cx="2962656" cy="7223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666666"/>
                </a:solidFill>
                <a:latin typeface="微软雅黑"/>
                <a:ea typeface="微软雅黑"/>
              </a:rPr>
              <a:t>国家推免系统填报与确认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6025896"/>
            <a:ext cx="10424160" cy="4663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 dirty="0">
                <a:solidFill>
                  <a:srgbClr val="1F4D78"/>
                </a:solidFill>
                <a:latin typeface="微软雅黑"/>
                <a:ea typeface="微软雅黑"/>
              </a:rPr>
              <a:t>先查目标院系当年安排：有夏令营的尽早准备；没有夏令营的重点盯预推免。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1.5 升学篇：用哪些信息做选择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63624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5389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6761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日常工作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240280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是否喜欢每天真正要做的事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3984" y="1563624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70832" y="145389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46761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培养与指导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240280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课程、任务、反馈和团队氛围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1563624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28431" y="145389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46761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时间与经济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40280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学制、费用、资助与生活安排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602736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349300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50672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能力匹配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当前基础与目标之间的差距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3602736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70832" y="349300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350672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长期去向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4279392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毕业去向与目标岗位的要求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3" y="3602736"/>
            <a:ext cx="3319272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28431" y="349300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1" y="350672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调整空间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9392"/>
            <a:ext cx="289864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阶段考核、转向与退出机制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916168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5934455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和导师、在读学生、毕业生交流，再用自己的实践验证判断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79776"/>
            <a:ext cx="12192000" cy="73152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53512"/>
            <a:ext cx="12192000" cy="109728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17904"/>
            <a:ext cx="1828800" cy="10241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600" b="1">
                <a:solidFill>
                  <a:srgbClr val="1F4D7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044952"/>
            <a:ext cx="10332720" cy="81381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00" b="1">
                <a:solidFill>
                  <a:srgbClr val="FFFFFF"/>
                </a:solidFill>
                <a:latin typeface="微软雅黑"/>
                <a:ea typeface="微软雅黑"/>
              </a:rPr>
              <a:t>信息与工具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526280"/>
            <a:ext cx="1024128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3F3F3F"/>
                </a:solidFill>
                <a:latin typeface="微软雅黑"/>
                <a:ea typeface="微软雅黑"/>
              </a:rPr>
              <a:t>水源社区　·　常用网站　·　AI问答　·　工作区编程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2.1 水源社区：用好同校经验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2240281"/>
            <a:ext cx="5148072" cy="3383279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2130553"/>
            <a:ext cx="28041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144269"/>
            <a:ext cx="26304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为什么先推荐水源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044953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944369"/>
            <a:ext cx="4389120" cy="7040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同一所学校，很多问题有相同背景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22193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721609"/>
            <a:ext cx="4700016" cy="7040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 dirty="0">
                <a:solidFill>
                  <a:srgbClr val="000000"/>
                </a:solidFill>
                <a:latin typeface="微软雅黑"/>
                <a:ea typeface="微软雅黑"/>
              </a:rPr>
              <a:t>课程、资源、项目、生活经验都可检索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599433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498849"/>
            <a:ext cx="4389120" cy="7040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 dirty="0">
                <a:solidFill>
                  <a:srgbClr val="000000"/>
                </a:solidFill>
                <a:latin typeface="微软雅黑"/>
                <a:ea typeface="微软雅黑"/>
              </a:rPr>
              <a:t>查不到合适答案，可以继续提问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540766"/>
            <a:ext cx="4663440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1F4D78"/>
                </a:solidFill>
                <a:latin typeface="微软雅黑"/>
                <a:ea typeface="微软雅黑"/>
                <a:hlinkClick r:id="rId2"/>
              </a:rPr>
              <a:t>https://shuiyuan.sjtu.edu.cn/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148072" cy="406908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1444752"/>
            <a:ext cx="37185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458468"/>
            <a:ext cx="35448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怎样更容易得到有效回答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4808" y="2322576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8" y="2221992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先搜课程名、教师名或具体关键词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808" y="3108960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3008376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说明年级、专业、校区等必要背景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4808" y="3895344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8" y="3794760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000000"/>
                </a:solidFill>
                <a:latin typeface="微软雅黑"/>
                <a:ea typeface="微软雅黑"/>
              </a:rPr>
              <a:t>写清查过什么、试过什么、卡在哪里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4681728"/>
            <a:ext cx="100584" cy="100584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8" y="4581144"/>
            <a:ext cx="4389120" cy="6858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000000"/>
                </a:solidFill>
                <a:latin typeface="微软雅黑"/>
                <a:ea typeface="微软雅黑"/>
              </a:rPr>
              <a:t>标题具体，表达礼貌，避免重复发帖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2.2 常用网站：通知与课程学习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0759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上海交大官网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7016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学校新闻与通知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https://www.sjtu.edu.cn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00253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20711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教务处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0985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教学通知与办事规定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774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https://jwc.sjtu.edu.cn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697480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7660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 dirty="0">
                <a:solidFill>
                  <a:srgbClr val="C00000"/>
                </a:solidFill>
                <a:latin typeface="微软雅黑"/>
                <a:ea typeface="微软雅黑"/>
              </a:rPr>
              <a:t>教学信息服务网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7934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选课、成绩、课表与培养计划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0723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 dirty="0">
                <a:solidFill>
                  <a:srgbClr val="C00000"/>
                </a:solidFill>
                <a:latin typeface="微软雅黑"/>
                <a:ea typeface="微软雅黑"/>
              </a:rPr>
              <a:t>https://i.sjtu.edu.cn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3392424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46100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迎新网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8843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报到与入学事项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376732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https://welcome.sjtu.edu.cn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4087368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415594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校园活动平台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18338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第二课堂与活动报名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446227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https://activity.sjtu.edu.cn/dekt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478231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485089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校历查询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87832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学期、考试与假期安排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515721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https://jwc.sjtu.edu.cn/jxxl/lnxl.htm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547725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554583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C00000"/>
                </a:solidFill>
                <a:latin typeface="微软雅黑"/>
                <a:ea typeface="微软雅黑"/>
              </a:rPr>
              <a:t>Canvas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557326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课件、作业与课程回放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585216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 dirty="0">
                <a:solidFill>
                  <a:srgbClr val="C00000"/>
                </a:solidFill>
                <a:latin typeface="微软雅黑"/>
                <a:ea typeface="微软雅黑"/>
              </a:rPr>
              <a:t>https://oc.sjtu.edu.cn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3" y="130759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图书馆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文献数据库与空间预约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https://www.lib.sjtu.edu.cn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3" y="200253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20711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 dirty="0">
                <a:solidFill>
                  <a:srgbClr val="C00000"/>
                </a:solidFill>
                <a:latin typeface="微软雅黑"/>
                <a:ea typeface="微软雅黑"/>
              </a:rPr>
              <a:t>SJTU选课社区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20985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参考往届课程评价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3774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 dirty="0">
                <a:solidFill>
                  <a:srgbClr val="C00000"/>
                </a:solidFill>
                <a:latin typeface="微软雅黑"/>
                <a:ea typeface="微软雅黑"/>
              </a:rPr>
              <a:t>https://course.sjtu.plus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2697480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7660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 dirty="0">
                <a:solidFill>
                  <a:srgbClr val="C00000"/>
                </a:solidFill>
                <a:latin typeface="微软雅黑"/>
                <a:ea typeface="微软雅黑"/>
              </a:rPr>
              <a:t>传承·交大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27934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课件、笔记与学习资料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0723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 dirty="0">
                <a:solidFill>
                  <a:srgbClr val="C00000"/>
                </a:solidFill>
                <a:latin typeface="微软雅黑"/>
                <a:ea typeface="微软雅黑"/>
              </a:rPr>
              <a:t>https://share.dyweb.sjtu.cn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3" y="3392424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346100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Course+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348843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开课检索与排课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376732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https://geek.sjtu.edu.cn/course-plus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4087368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82512" y="415594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好大学在线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418338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在线课程与MOOC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46227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https://www.cnmooc.org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3" y="478231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485089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全媒体资源中心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5984" y="487832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多媒体学习资源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515721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https://vlc.sjtu.edu.cn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2783" y="547725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82512" y="554583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大学生创新实践平台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5984" y="557326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PRP等项目与申报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585216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https://prp.jwc.sjtu.edu.cn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6345936"/>
            <a:ext cx="1042416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From </a:t>
            </a:r>
            <a:r>
              <a:rPr 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SJTU Wiki：https://sjtu-geek.github.io/SJTU-Wiki/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2.2 常用网站：实践与校园生活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0759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物理实验系统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7016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物理实验选课与管理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http://www.phycai.sjtu.edu.cn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00253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20711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ACM OJ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0985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编程题练习与提交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774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https://acm.sjtu.edu.cn/OnlineJudge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697480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7660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C00000"/>
                </a:solidFill>
                <a:latin typeface="微软雅黑"/>
                <a:ea typeface="微软雅黑"/>
              </a:rPr>
              <a:t>交我办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7934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校内办事统一入口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0723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C00000"/>
                </a:solidFill>
                <a:latin typeface="微软雅黑"/>
                <a:ea typeface="微软雅黑"/>
              </a:rPr>
              <a:t>https://my.sjtu.edu.cn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3392424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46100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学生事务中心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8843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奖助与学生事务通知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376732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https://affairs.sjtu.edu.cn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4087368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415594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绿色爱心屋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18338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物资领取、置换与租借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446227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https://aixinwu.sjtu.edu.cn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478231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485089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C00000"/>
                </a:solidFill>
                <a:latin typeface="微软雅黑"/>
                <a:ea typeface="微软雅黑"/>
              </a:rPr>
              <a:t>水源社区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87832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校园交流与经验检索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515721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 dirty="0">
                <a:solidFill>
                  <a:srgbClr val="C00000"/>
                </a:solidFill>
                <a:latin typeface="微软雅黑"/>
                <a:ea typeface="微软雅黑"/>
              </a:rPr>
              <a:t>https://shuiyuan.sjtu.edu.cn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547725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554583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学生创新中心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557326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创新实践资源与活动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585216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https://www.si.sjtu.edu.cn/home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3" y="130759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励志讲坛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讲座信息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https://lzjt.sjtu.edu.cn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3" y="200253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20711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交大葡萄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20985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校内数字资源分享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3774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https://pt.sjtu.edu.cn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2697480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7660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学网部 NIMO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27934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宿舍网络服务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0723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https://nimo.sjtu.edu.cn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3" y="3392424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346100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生活服务反馈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348843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餐饮、住宿等意见反馈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376732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https://feedback.sjtu.edu.cn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4087368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82512" y="415594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思源极客协会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418338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校园信息化与技术实践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46227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https://geek.sjtu.edu.cn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3" y="4782312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485089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Xflops超算队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5984" y="487832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高性能计算与竞赛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515721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https://xflops.sjtu.edu.cn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2783" y="5477256"/>
            <a:ext cx="5129784" cy="626364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82512" y="554583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交大电子地图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5984" y="557326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校区地点与地图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585216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https://map.sjtu.edu.cn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6345936"/>
            <a:ext cx="1042416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From </a:t>
            </a:r>
            <a:r>
              <a:rPr 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SJTU Wiki：https://sjtu-geek.github.io/SJTU-Wiki/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2.2 常用网站：协作与效率工具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07592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交大邮箱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7016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学校邮箱收发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https://mail.sjtu.edu.cn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112264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218084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交大云盘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20827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文件存储与分享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8716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https://pan.sjtu.edu.cn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916936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9855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水源文档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30129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Markdown协作笔记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2918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https://notes.sjtu.edu.cn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3721608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79018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在线LaTeX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81762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论文与公式文档协作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09651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https://latex.sjtu.edu.cn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4526280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45948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校内AI平台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6222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交大部署的对话服务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49011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https://chat.sjtu.edu.cn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5330952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539953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SJTU GitLab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542696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代码与版本管理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570585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https://git.sjtu.edu.cn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3" y="1307592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137617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正版软件授权中心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140360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校内授权软件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682495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https://software.sjtu.edu.cn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3" y="2112264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180844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交大问卷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2208276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问卷创建与收集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487168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https://wj.sjtu.edu.cn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3" y="2916936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2985516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云视频会议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3012948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校内会议服务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291840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https://meeting.sjtu.edu.cn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3721608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3790188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交大VPN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817620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校外访问校内资源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096512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https://net.sjtu.edu.cn/xxfw/VPN.htm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3" y="4526280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594860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视觉形象中心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4622292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校标与PPT模板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901184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https://vi.sjtu.edu.cn/index.php/articles/bulletin/13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3" y="5330952"/>
            <a:ext cx="5129784" cy="73609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82512" y="5399532"/>
            <a:ext cx="25968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F4D78"/>
                </a:solidFill>
                <a:latin typeface="微软雅黑"/>
                <a:ea typeface="微软雅黑"/>
              </a:rPr>
              <a:t>SJTU Wiki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5426964"/>
            <a:ext cx="2276856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微软雅黑"/>
                <a:ea typeface="微软雅黑"/>
              </a:rPr>
              <a:t>交大学习与生活导航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705856"/>
            <a:ext cx="4910328" cy="2651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0">
                <a:solidFill>
                  <a:srgbClr val="1F4D78"/>
                </a:solidFill>
                <a:latin typeface="微软雅黑"/>
                <a:ea typeface="微软雅黑"/>
              </a:rPr>
              <a:t>https://sjtu-geek.github.io/SJTU-Wiki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6345936"/>
            <a:ext cx="10424160" cy="27432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From </a:t>
            </a:r>
            <a:r>
              <a:rPr lang="zh-CN" sz="1500" b="0" dirty="0">
                <a:solidFill>
                  <a:srgbClr val="1F4D78"/>
                </a:solidFill>
                <a:latin typeface="微软雅黑"/>
                <a:ea typeface="微软雅黑"/>
              </a:rPr>
              <a:t>SJTU Wiki：https://sjtu-geek.github.io/SJTU-Wiki/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2.3 AI工具：先把它当作随时可问的助教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307592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" y="1380744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豆包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" y="1728216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https://www.doubao.com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3984" y="1307592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1144" y="1380744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DeepSeek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144" y="1728216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https://chat.deepseek.com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1583" y="1307592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38744" y="1380744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千问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8744" y="1728216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https://www.qianwen.com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139696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2212848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Kimi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2560320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https://www.kimi.com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4" y="2139696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2212848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C00000"/>
                </a:solidFill>
                <a:latin typeface="微软雅黑"/>
                <a:ea typeface="微软雅黑"/>
              </a:rPr>
              <a:t>ChatGPT（</a:t>
            </a: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</a:rPr>
              <a:t>性能好</a:t>
            </a:r>
            <a:r>
              <a:rPr lang="zh-CN" sz="1800" b="1" dirty="0">
                <a:solidFill>
                  <a:srgbClr val="C00000"/>
                </a:solidFill>
                <a:latin typeface="微软雅黑"/>
                <a:ea typeface="微软雅黑"/>
              </a:rPr>
              <a:t>，</a:t>
            </a:r>
            <a:r>
              <a:rPr lang="zh-CN" altLang="en-US" sz="1800" b="1" dirty="0">
                <a:solidFill>
                  <a:srgbClr val="C00000"/>
                </a:solidFill>
                <a:latin typeface="微软雅黑"/>
                <a:ea typeface="微软雅黑"/>
              </a:rPr>
              <a:t>但</a:t>
            </a:r>
            <a:r>
              <a:rPr lang="zh-CN" sz="1800" b="1" dirty="0">
                <a:solidFill>
                  <a:srgbClr val="C00000"/>
                </a:solidFill>
                <a:latin typeface="微软雅黑"/>
                <a:ea typeface="微软雅黑"/>
              </a:rPr>
              <a:t>进阶）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560320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https://chatgpt.com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2139696"/>
            <a:ext cx="3328416" cy="7223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2212848"/>
            <a:ext cx="3054096" cy="3108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F4D78"/>
                </a:solidFill>
                <a:latin typeface="微软雅黑"/>
                <a:ea typeface="微软雅黑"/>
              </a:rPr>
              <a:t>Claude（超级进阶）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560320"/>
            <a:ext cx="3054096" cy="2468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>
                <a:solidFill>
                  <a:srgbClr val="000000"/>
                </a:solidFill>
                <a:latin typeface="微软雅黑"/>
                <a:ea typeface="微软雅黑"/>
              </a:rPr>
              <a:t>https://claude.ai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054096"/>
            <a:ext cx="10515600" cy="7863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700" b="0" dirty="0">
                <a:solidFill>
                  <a:srgbClr val="666666"/>
                </a:solidFill>
                <a:latin typeface="微软雅黑"/>
                <a:ea typeface="微软雅黑"/>
              </a:rPr>
              <a:t>（ChatGPT、Claude的具体使用不在这里展开；可去水源</a:t>
            </a:r>
            <a:r>
              <a:rPr lang="zh-CN" altLang="en-US" sz="1700" b="0" dirty="0">
                <a:solidFill>
                  <a:srgbClr val="666666"/>
                </a:solidFill>
                <a:latin typeface="微软雅黑"/>
                <a:ea typeface="微软雅黑"/>
              </a:rPr>
              <a:t>、小红书、</a:t>
            </a:r>
            <a:r>
              <a:rPr lang="en-US" altLang="zh-CN" sz="1700" b="0" dirty="0">
                <a:solidFill>
                  <a:srgbClr val="666666"/>
                </a:solidFill>
                <a:latin typeface="微软雅黑"/>
                <a:ea typeface="微软雅黑"/>
              </a:rPr>
              <a:t>b</a:t>
            </a:r>
            <a:r>
              <a:rPr lang="zh-CN" altLang="en-US" sz="1700" b="0" dirty="0">
                <a:solidFill>
                  <a:srgbClr val="666666"/>
                </a:solidFill>
                <a:latin typeface="微软雅黑"/>
                <a:ea typeface="微软雅黑"/>
              </a:rPr>
              <a:t>站</a:t>
            </a:r>
            <a:r>
              <a:rPr lang="zh-CN" sz="1700" b="0" dirty="0">
                <a:solidFill>
                  <a:srgbClr val="666666"/>
                </a:solidFill>
                <a:latin typeface="微软雅黑"/>
                <a:ea typeface="微软雅黑"/>
              </a:rPr>
              <a:t>等社交平台搜索、提问，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700" b="0" dirty="0">
                <a:solidFill>
                  <a:srgbClr val="666666"/>
                </a:solidFill>
                <a:latin typeface="微软雅黑"/>
                <a:ea typeface="微软雅黑"/>
              </a:rPr>
              <a:t>把找入口、查资料、解决问题，当作一次信息检索能力练习。）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4105656"/>
            <a:ext cx="5148072" cy="14081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399592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0964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适合怎么问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4105656"/>
            <a:ext cx="5166360" cy="1408176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3995928"/>
            <a:ext cx="23215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009644"/>
            <a:ext cx="21478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怎样才是在学习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45152"/>
            <a:ext cx="4709160" cy="7040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解释概念、检查步骤、定位卡点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通过例题、反例与方法对比加深理解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645152"/>
            <a:ext cx="4709160" cy="70408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先独立思考，再带着问题问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000000"/>
                </a:solidFill>
                <a:latin typeface="微软雅黑"/>
                <a:ea typeface="微软雅黑"/>
              </a:rPr>
              <a:t>理解推理，对照课本核验，独立再做一遍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961888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5980175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AI可以是助教；理解、学习与判断，仍然需要自己完成。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2.3 AI工具：在工作区里完成任务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45336"/>
            <a:ext cx="10634472" cy="1142999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13232" y="1435608"/>
            <a:ext cx="70332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49324"/>
            <a:ext cx="68595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FFFFFF"/>
                </a:solidFill>
                <a:latin typeface="微软雅黑"/>
                <a:ea typeface="微软雅黑"/>
              </a:rPr>
              <a:t>Vibe coding：用自然语言推进编程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167128"/>
            <a:ext cx="10076688" cy="521207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给编程助手一个项目文件夹，让它结合文件、代码和运行结果持续修改。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2.3 AI工具：在VS Code里开始使用Codex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72768"/>
            <a:ext cx="409651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35661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76756"/>
            <a:ext cx="33924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1  安装VS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029968"/>
            <a:ext cx="3730752" cy="6492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下载并安装编辑器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code.visualstudio.com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2926080"/>
            <a:ext cx="409651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2816352"/>
            <a:ext cx="27660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830068"/>
            <a:ext cx="25923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2  安装官方扩展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383280"/>
            <a:ext cx="3730752" cy="6492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扩展商店搜索Codex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 dirty="0">
                <a:solidFill>
                  <a:srgbClr val="000000"/>
                </a:solidFill>
                <a:latin typeface="微软雅黑"/>
                <a:ea typeface="微软雅黑"/>
              </a:rPr>
              <a:t>确认发布者为OpenAI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279392"/>
            <a:ext cx="409651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4169664"/>
            <a:ext cx="32994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183380"/>
            <a:ext cx="31257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3  登录并打开文件夹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3730752" cy="6492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打开Codex侧栏，完成登录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000000"/>
                </a:solidFill>
                <a:latin typeface="微软雅黑"/>
                <a:ea typeface="微软雅黑"/>
              </a:rPr>
              <a:t>用一个独立文件夹开始练习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61888"/>
            <a:ext cx="10469880" cy="3840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F4D78"/>
                </a:solidFill>
                <a:latin typeface="微软雅黑"/>
                <a:ea typeface="微软雅黑"/>
              </a:rPr>
              <a:t>先认识界面、跑通一个小任务，再逐步学习更多功能。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79776"/>
            <a:ext cx="12192000" cy="73152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53512"/>
            <a:ext cx="12192000" cy="1097280"/>
          </a:xfrm>
          <a:prstGeom prst="rect">
            <a:avLst/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17904"/>
            <a:ext cx="1828800" cy="10241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600" b="1">
                <a:solidFill>
                  <a:srgbClr val="1F4D7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044952"/>
            <a:ext cx="10332720" cy="81381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00" b="1">
                <a:solidFill>
                  <a:srgbClr val="FFFFFF"/>
                </a:solidFill>
                <a:latin typeface="微软雅黑"/>
                <a:ea typeface="微软雅黑"/>
              </a:rPr>
              <a:t>心态与成长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526280"/>
            <a:ext cx="1024128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3F3F3F"/>
                </a:solidFill>
                <a:latin typeface="微软雅黑"/>
                <a:ea typeface="微软雅黑"/>
              </a:rPr>
              <a:t>建立自我评价　·　理解不确定性　·　保持持续成长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3.1 面对比较：筛选指标与人的价值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27048"/>
            <a:ext cx="5148072" cy="308152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29946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31036"/>
            <a:ext cx="28209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微软雅黑"/>
                <a:ea typeface="微软雅黑"/>
              </a:rPr>
              <a:t>为什么会有这些指标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4636008" cy="136245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学历、绩点、排名、科研成果……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在升学和招聘中，帮助组织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在有限名额下进行筛选。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3694176"/>
            <a:ext cx="4636008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1" dirty="0">
                <a:solidFill>
                  <a:srgbClr val="1F4D78"/>
                </a:solidFill>
                <a:latin typeface="微软雅黑"/>
                <a:ea typeface="微软雅黑"/>
              </a:rPr>
              <a:t>它们</a:t>
            </a:r>
            <a:r>
              <a:rPr lang="zh-CN" altLang="en-US" sz="2100" b="1" dirty="0">
                <a:solidFill>
                  <a:srgbClr val="1F4D78"/>
                </a:solidFill>
                <a:latin typeface="微软雅黑"/>
                <a:ea typeface="微软雅黑"/>
              </a:rPr>
              <a:t>仅</a:t>
            </a:r>
            <a:r>
              <a:rPr lang="zh-CN" sz="2100" b="1" dirty="0">
                <a:solidFill>
                  <a:srgbClr val="1F4D78"/>
                </a:solidFill>
                <a:latin typeface="微软雅黑"/>
                <a:ea typeface="微软雅黑"/>
              </a:rPr>
              <a:t>能描述部分表现，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1" dirty="0">
                <a:solidFill>
                  <a:srgbClr val="1F4D78"/>
                </a:solidFill>
                <a:latin typeface="微软雅黑"/>
                <a:ea typeface="微软雅黑"/>
              </a:rPr>
              <a:t>无法概括一个完整的人。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27048"/>
            <a:ext cx="5166360" cy="308152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35788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31036"/>
            <a:ext cx="34051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 dirty="0">
                <a:solidFill>
                  <a:srgbClr val="FFFFFF"/>
                </a:solidFill>
                <a:latin typeface="微软雅黑"/>
              </a:rPr>
              <a:t>人的价值没有统一的刻度</a:t>
            </a:r>
            <a:endParaRPr lang="zh-CN" sz="23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672584" cy="9144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300" b="1" dirty="0">
                <a:solidFill>
                  <a:srgbClr val="1F4D78"/>
                </a:solidFill>
                <a:latin typeface="微软雅黑"/>
                <a:ea typeface="微软雅黑"/>
              </a:rPr>
              <a:t>康德：把人同时视为目的，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300" b="1" dirty="0">
                <a:solidFill>
                  <a:srgbClr val="1F4D78"/>
                </a:solidFill>
                <a:latin typeface="微软雅黑"/>
                <a:ea typeface="微软雅黑"/>
              </a:rPr>
              <a:t>不能仅仅当作手段。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3" y="3459653"/>
            <a:ext cx="4672584" cy="10698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900" b="0" dirty="0">
                <a:solidFill>
                  <a:srgbClr val="000000"/>
                </a:solidFill>
                <a:latin typeface="微软雅黑"/>
                <a:ea typeface="微软雅黑"/>
              </a:rPr>
              <a:t>可以为目标争取更好的成绩</a:t>
            </a:r>
            <a:endParaRPr lang="en-US" altLang="zh-CN" sz="1900" b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900" b="0" dirty="0">
                <a:solidFill>
                  <a:srgbClr val="000000"/>
                </a:solidFill>
                <a:latin typeface="微软雅黑"/>
                <a:ea typeface="微软雅黑"/>
              </a:rPr>
              <a:t>人的尊严与自我价值，不由一次排名决定。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endParaRPr lang="zh-CN" sz="1900" b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864D2A92-C686-9B0F-D8B0-D93B79B9C501}"/>
              </a:ext>
            </a:extLst>
          </p:cNvPr>
          <p:cNvSpPr/>
          <p:nvPr/>
        </p:nvSpPr>
        <p:spPr>
          <a:xfrm>
            <a:off x="804672" y="5312665"/>
            <a:ext cx="10652760" cy="621792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CE214923-0F1D-C966-40DF-82A0A6BD4405}"/>
              </a:ext>
            </a:extLst>
          </p:cNvPr>
          <p:cNvSpPr txBox="1"/>
          <p:nvPr/>
        </p:nvSpPr>
        <p:spPr>
          <a:xfrm>
            <a:off x="914400" y="5330952"/>
            <a:ext cx="10433304" cy="58521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 dirty="0">
                <a:solidFill>
                  <a:srgbClr val="FFFFFF"/>
                </a:solidFill>
                <a:latin typeface="微软雅黑"/>
                <a:ea typeface="微软雅黑"/>
              </a:rPr>
              <a:t>我真正重视什么？这份投入，是为了自己的目标，还是只为了超过别人？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3.1 面对比较：同样的时间，可以通向不同生活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517904"/>
            <a:ext cx="515721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2189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学习与发展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066543"/>
            <a:ext cx="4736592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有人投入课程、科研与竞赛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560320"/>
            <a:ext cx="4736592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收获知识、能力与发展机会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17904"/>
            <a:ext cx="515721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40817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2189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兴趣与体验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066543"/>
            <a:ext cx="4736592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有人练乐器、运动、探索爱好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60320"/>
            <a:ext cx="4736592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收获热爱、快乐与新的视野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483864"/>
            <a:ext cx="515721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337413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8785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支教与志愿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032504"/>
            <a:ext cx="4736592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有人把时间投入他人的需要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526280"/>
            <a:ext cx="4736592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收获连接、贡献与意义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483864"/>
            <a:ext cx="515721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374136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87852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休息与健康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32504"/>
            <a:ext cx="4736592" cy="4114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有人选择按时睡觉、恢复精力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526280"/>
            <a:ext cx="4736592" cy="365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收获更稳定的身心状态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3.2 面对未知：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</a:rPr>
              <a:t>重要成就背后，也有很大的运气成分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384" y="1536192"/>
            <a:ext cx="4160520" cy="4005072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26464"/>
            <a:ext cx="3159759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40180"/>
            <a:ext cx="29860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当审稿意见由AI代写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157984"/>
            <a:ext cx="3739896" cy="8321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AI代写审稿意见，已经成为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学术会议公开讨论的问题。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3246120"/>
            <a:ext cx="3739896" cy="1490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审稿人的投入、理解与判断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会影响反馈和最终结果。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对作者而言，有时会感到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100" b="0">
                <a:solidFill>
                  <a:srgbClr val="000000"/>
                </a:solidFill>
                <a:latin typeface="微软雅黑"/>
                <a:ea typeface="微软雅黑"/>
              </a:rPr>
              <a:t>投稿“像抽奖”。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4846320"/>
            <a:ext cx="3739896" cy="4937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1F4D78"/>
                </a:solidFill>
                <a:latin typeface="微软雅黑"/>
                <a:ea typeface="微软雅黑"/>
              </a:rPr>
              <a:t>认真做研究，也给结果留出余地。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989320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6007607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微软雅黑"/>
                <a:ea typeface="微软雅黑"/>
              </a:rPr>
              <a:t>一次投稿的结果，无法完整衡量工作的价值，更不能概括你的全部能力。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3.2 面对未知：把能力带到下一次行动中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1682495"/>
            <a:ext cx="3328416" cy="353872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27660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86484"/>
            <a:ext cx="25923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分清变化发生在哪里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441448"/>
            <a:ext cx="2907792" cy="19293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是规则、名额或评审发生变化，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还是自己的准备还有改进空间？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3984" y="1682495"/>
            <a:ext cx="3328416" cy="353872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70832" y="1572768"/>
            <a:ext cx="276606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586484"/>
            <a:ext cx="259232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保留已经获得的东西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441448"/>
            <a:ext cx="2907792" cy="19293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学会的知识、做过的实验、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解决问题的方法与合作经验。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1682495"/>
            <a:ext cx="3328416" cy="3538728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28431" y="1572768"/>
            <a:ext cx="1828800" cy="484632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  <a:effectLst>
            <a:outerShdw blurRad="50800" dist="38100" dir="27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586484"/>
            <a:ext cx="1655064" cy="44805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继续下一步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441448"/>
            <a:ext cx="2907792" cy="192938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复盘并完善工作，寻找新机会；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200" b="0">
                <a:solidFill>
                  <a:srgbClr val="000000"/>
                </a:solidFill>
                <a:latin typeface="微软雅黑"/>
                <a:ea typeface="微软雅黑"/>
              </a:rPr>
              <a:t>允许难过，也允许自己重新出发。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24144"/>
            <a:ext cx="10652760" cy="585216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5742431"/>
            <a:ext cx="10433304" cy="54864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rgbClr val="FFFFFF"/>
                </a:solidFill>
                <a:latin typeface="微软雅黑"/>
                <a:ea typeface="微软雅黑"/>
              </a:rPr>
              <a:t>结果并非完全可控；持续行动，会带来积累和新的可能。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3F3F3F"/>
                </a:solidFill>
                <a:latin typeface="微软雅黑"/>
                <a:ea typeface="微软雅黑"/>
              </a:rPr>
              <a:t>3.3 接纳当下：</a:t>
            </a:r>
            <a:r>
              <a:rPr lang="zh-CN" altLang="en-US" sz="2800" b="1" dirty="0">
                <a:solidFill>
                  <a:srgbClr val="3F3F3F"/>
                </a:solidFill>
                <a:latin typeface="微软雅黑"/>
                <a:ea typeface="微软雅黑"/>
              </a:rPr>
              <a:t>接纳不完美的自己</a:t>
            </a:r>
            <a:endParaRPr lang="zh-CN" sz="2800" b="1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10067" y="5514005"/>
            <a:ext cx="3739896" cy="5303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 dirty="0">
                <a:solidFill>
                  <a:srgbClr val="1F4D78"/>
                </a:solidFill>
                <a:latin typeface="微软雅黑"/>
                <a:ea typeface="微软雅黑"/>
              </a:rPr>
              <a:t>人是多面的，有缺点再正常不过。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971032"/>
            <a:ext cx="10652760" cy="47548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989320"/>
            <a:ext cx="10433304" cy="4389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 dirty="0">
                <a:solidFill>
                  <a:srgbClr val="FFFFFF"/>
                </a:solidFill>
                <a:latin typeface="微软雅黑"/>
                <a:ea typeface="微软雅黑"/>
              </a:rPr>
              <a:t>接纳真实的自己，心态平稳地一点点改善，也给生活保留空间。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521207" y="292608"/>
            <a:ext cx="10652760" cy="59436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3F3F3F"/>
                </a:solidFill>
                <a:latin typeface="微软雅黑"/>
                <a:ea typeface="微软雅黑"/>
              </a:rPr>
              <a:t>3.3 接纳当下：很多问题，都可以交给时间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35608"/>
            <a:ext cx="1033272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1F4D78"/>
                </a:solidFill>
                <a:latin typeface="微软雅黑"/>
                <a:ea typeface="微软雅黑"/>
              </a:rPr>
              <a:t>现在，不必急着回答关于未来的所有问题。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304288" cy="60350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2121408" cy="40233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我喜欢什么？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523744"/>
            <a:ext cx="7470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多接触、多体验，兴趣会逐渐清晰。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2304288" cy="60350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121408" cy="40233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我擅长什么？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483864"/>
            <a:ext cx="7470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在学习和实践中，慢慢认识自己的长处。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2304288" cy="603504"/>
          </a:xfrm>
          <a:prstGeom prst="roundRect">
            <a:avLst>
              <a:gd name="adj" fmla="val 10000"/>
            </a:avLst>
          </a:prstGeom>
          <a:solidFill>
            <a:srgbClr val="1F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2121408" cy="40233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FFFFFF"/>
                </a:solidFill>
                <a:latin typeface="微软雅黑"/>
                <a:ea typeface="微软雅黑"/>
              </a:rPr>
              <a:t>未来走哪条路？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443984"/>
            <a:ext cx="7470648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000000"/>
                </a:solidFill>
                <a:latin typeface="微软雅黑"/>
                <a:ea typeface="微软雅黑"/>
              </a:rPr>
              <a:t>随着经历增加，选择也会更有依据。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504688"/>
            <a:ext cx="10287000" cy="4937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1F4D78"/>
                </a:solidFill>
                <a:latin typeface="微软雅黑"/>
                <a:ea typeface="微软雅黑"/>
              </a:rPr>
              <a:t>给自己一点时间，也给自己继续尝试的机会。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153912"/>
            <a:ext cx="10652760" cy="429768"/>
          </a:xfrm>
          <a:prstGeom prst="rect">
            <a:avLst/>
          </a:prstGeom>
          <a:solidFill>
            <a:srgbClr val="1F4D78"/>
          </a:solidFill>
          <a:ln w="762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6172200"/>
            <a:ext cx="10433304" cy="39319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大学四年，会有许多现在还想不到的收获。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1956816"/>
            <a:ext cx="9262872" cy="9144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400" b="1">
                <a:solidFill>
                  <a:srgbClr val="1F4D78"/>
                </a:solidFill>
                <a:latin typeface="微软雅黑"/>
                <a:ea typeface="微软雅黑"/>
              </a:rPr>
              <a:t>谢谢大家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91840"/>
            <a:ext cx="9262872" cy="7315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b="0" dirty="0">
                <a:solidFill>
                  <a:srgbClr val="3F3F3F"/>
                </a:solidFill>
                <a:latin typeface="微软雅黑"/>
                <a:ea typeface="微软雅黑"/>
              </a:rPr>
              <a:t>Q/A</a:t>
            </a:r>
            <a:endParaRPr lang="zh-CN" sz="2600" b="0" dirty="0">
              <a:solidFill>
                <a:srgbClr val="3F3F3F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3040" y="4626864"/>
            <a:ext cx="9262872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F4D78"/>
                </a:solidFill>
                <a:latin typeface="微软雅黑"/>
                <a:ea typeface="微软雅黑"/>
                <a:hlinkClick r:id="rId2"/>
              </a:rPr>
              <a:t>zhangziqing@sjtu.edu.cn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166360"/>
            <a:ext cx="9262872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F4D78"/>
                </a:solidFill>
                <a:latin typeface="微软雅黑"/>
                <a:ea typeface="微软雅黑"/>
                <a:hlinkClick r:id="rId3"/>
              </a:rPr>
              <a:t>https://zzqingz.github.io/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F4D78"/>
      </a:hlink>
      <a:folHlink>
        <a:srgbClr val="1F4D78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7427</Words>
  <Application>Microsoft Office PowerPoint</Application>
  <PresentationFormat>宽屏</PresentationFormat>
  <Paragraphs>660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2" baseType="lpstr">
      <vt:lpstr>等线</vt:lpstr>
      <vt:lpstr>微软雅黑</vt:lpstr>
      <vt:lpstr>Arial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如何适应大学生活｜草稿v1完善版</dc:title>
  <dc:subject>根据讲者逐页批注制作；上海交通大学新生线上讲座</dc:subject>
  <dc:creator>张梓晴</dc:creator>
  <cp:keywords>新生讲座,2026,学业,信息,成长</cp:keywords>
  <dc:description/>
  <cp:lastModifiedBy>zq zhang</cp:lastModifiedBy>
  <cp:revision>258</cp:revision>
  <dcterms:created xsi:type="dcterms:W3CDTF">2024-04-19T08:02:00Z</dcterms:created>
  <dcterms:modified xsi:type="dcterms:W3CDTF">2026-09-29T07:59:55Z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C38D077DFBCC480994669053CC926F03_12</vt:lpwstr>
  </property>
  <property fmtid="{D5CDD505-2E9C-101B-9397-08002B2CF9AE}" pid="3" name="KSOProductBuildVer">
    <vt:lpwstr>2052-12.1.0.21541</vt:lpwstr>
  </property>
</Properties>
</file>